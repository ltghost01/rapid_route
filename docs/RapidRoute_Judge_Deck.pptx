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Pause after the positioning line.
Say: Google shows possible roads. RapidRoute is the dispatch brain.
It picks an available ambulance, scores the routes, blocks unsafe roads, and writes down why.
Do not claim we built GPS or Google Maps. This is a control-room product on top of Google Routes.
Demo city is Mumbai. Next slide is the operational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invent death statistics. Stay operational.
Consumer navigation picks a path. A dispatcher also needs: which unit, what if the road closes, and why we chose it.
Point to the right-hand chain: unit, traffic, blockage, hospital.
Set up the next slide: RapidRoute is the missing decision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Google Maps with a new skin. It is not a new GPS.
Walk top to bottom: dispatcher, RapidRoute capabilities, Google Routes.
Admin-only: vehicles, road reports, live block, four evaluator scenarios.
Dispatcher cannot block roads. A road closure is an operations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ask 'Isn't this just Google Maps?' stay on this slide.
Analogy: Google is the road atlas. RapidRoute is the control-room officer who chooses the unit and the path, then writes it in the log.
Google does not assign an ambulance. Google does not know our operational corridor is closed.
Traffic times: Google when keys work. Admin 'block this road' is our input, labelled DEMO SIMULATION. Not a municipal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1 to 6 quickly. This is the dispatcher path.
Calculate routes: backend calls Google Routes API. Google returns 2 to 3 real paths.
Lowest penalty is recommended. Screen shows Why this route.
Admin blocks the current route. We re-query Google from the vehicle's current simulated position.
Say clearly: movement is animation. Duration does not collapse because we animate.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heart. Scoring is a published weighted formula, not a trained model.
On screen, quality is shown as 100 minus penalty so a higher ring looks better.
Example: two routes to KEM. A is 10 minutes, heavy traffic. B is 11 minutes, clearer. Critical still takes A if A is open.
Hard rule first: blocked means ineligible. Score is not used on that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you leave up while the admin clicks Block current route.
Admin only. Current path blocked. Ask Google again from where the vehicle is.
If another path is clear, we adopt it. If none remain, we say no suitable route.
Demo blockage is labelled DEMO SIMULATION. Do not call it a city live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live-demo script card.
Left column: stay as dispatcher. Mumbai demo or Dadar to KEM. Assign. Calculate. Start.
Right column: logout, admin, Evaluator, Block current route.
Then Run all 4 scenarios. All should Pass.
Accounts: dispatcher@rapidroute.local / RapidRoute!dispatch and admin@rapidroute.local / RapidRoute!admin.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Browser (React) talks to our Express API. Express talks to PostgreSQL. Express talks to Google Routes when configured.
If Google is down we show labelled DEMO SIMULATION fixtures. We never pretend those are live Google.
The moving ambulance is a simulation along Google's polyline.
Do not mention extra microservices. This is a website, an API, and a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trust. Say what we do not claim.
Admin blockage is our operational input, labelled DEMO SIMULATION. Not a municipal live feed.
We did not train an AI model. Formula is auditable on purpose.
We did not create Google's road network. We did not create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Evaluator, Run all 4 scenarios. All four should say Pass.
Read the unreachable message aloud: No suitable route available. The destination cannot currently be reached through the available routes.
These are scoring tests, not operational incidents and not live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30-second line from the Q&amp;A.
RapidRoute does not replace Google. It sits on top of Google Routes, picks a free ambulance, scores the real alternatives, throws out blocked roads, and stores the reason.
If the road closes mid-journey, we recalculate from where the vehicle is and switch only when it actually helps.
Future list is from the Q&amp;A only. Do not invent more.
Stop talking. Offer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3025"/>
          </a:solidFill>
          <a:ln w="12700">
            <a:solidFill>
              <a:srgbClr val="D93025"/>
            </a:solidFill>
            <a:prstDash val="solid"/>
          </a:ln>
        </p:spPr>
      </p:sp>
      <p:sp>
        <p:nvSpPr>
          <p:cNvPr id="3" name="Text 1"/>
          <p:cNvSpPr/>
          <p:nvPr/>
        </p:nvSpPr>
        <p:spPr>
          <a:xfrm>
            <a:off x="640080" y="1234440"/>
            <a:ext cx="5486400" cy="256032"/>
          </a:xfrm>
          <a:prstGeom prst="rect">
            <a:avLst/>
          </a:prstGeom>
          <a:noFill/>
          <a:ln/>
        </p:spPr>
        <p:txBody>
          <a:bodyPr wrap="square" lIns="0" tIns="0" rIns="0" bIns="0" rtlCol="0" anchor="ctr"/>
          <a:lstStyle/>
          <a:p>
            <a:pPr indent="0" marL="0">
              <a:buNone/>
            </a:pPr>
            <a:r>
              <a:rPr lang="en-US" sz="1300" b="1" spc="160" kern="0" dirty="0">
                <a:solidFill>
                  <a:srgbClr val="5F6368"/>
                </a:solidFill>
                <a:latin typeface="Arial" pitchFamily="34" charset="0"/>
                <a:ea typeface="Arial" pitchFamily="34" charset="-122"/>
                <a:cs typeface="Arial" pitchFamily="34" charset="-120"/>
              </a:rPr>
              <a:t>RIH-PS-011</a:t>
            </a:r>
            <a:endParaRPr lang="en-US" sz="1300" dirty="0"/>
          </a:p>
        </p:txBody>
      </p:sp>
      <p:sp>
        <p:nvSpPr>
          <p:cNvPr id="4" name="Text 2"/>
          <p:cNvSpPr/>
          <p:nvPr/>
        </p:nvSpPr>
        <p:spPr>
          <a:xfrm>
            <a:off x="640080" y="1554480"/>
            <a:ext cx="6400800" cy="777240"/>
          </a:xfrm>
          <a:prstGeom prst="rect">
            <a:avLst/>
          </a:prstGeom>
          <a:noFill/>
          <a:ln/>
        </p:spPr>
        <p:txBody>
          <a:bodyPr wrap="square" lIns="0" tIns="0" rIns="0" bIns="0" rtlCol="0" anchor="ctr"/>
          <a:lstStyle/>
          <a:p>
            <a:pPr indent="0" marL="0">
              <a:buNone/>
            </a:pPr>
            <a:r>
              <a:rPr lang="en-US" sz="4800" b="1" dirty="0">
                <a:solidFill>
                  <a:srgbClr val="202124"/>
                </a:solidFill>
                <a:latin typeface="Arial" pitchFamily="34" charset="0"/>
                <a:ea typeface="Arial" pitchFamily="34" charset="-122"/>
                <a:cs typeface="Arial" pitchFamily="34" charset="-120"/>
              </a:rPr>
              <a:t>RapidRoute</a:t>
            </a:r>
            <a:endParaRPr lang="en-US" sz="4800" dirty="0"/>
          </a:p>
        </p:txBody>
      </p:sp>
      <p:sp>
        <p:nvSpPr>
          <p:cNvPr id="5" name="Text 3"/>
          <p:cNvSpPr/>
          <p:nvPr/>
        </p:nvSpPr>
        <p:spPr>
          <a:xfrm>
            <a:off x="640080" y="2331720"/>
            <a:ext cx="6035040" cy="36576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Intelligent Emergency Vehicle Route Management</a:t>
            </a:r>
            <a:endParaRPr lang="en-US" sz="1600" dirty="0"/>
          </a:p>
        </p:txBody>
      </p:sp>
      <p:sp>
        <p:nvSpPr>
          <p:cNvPr id="6" name="Text 4"/>
          <p:cNvSpPr/>
          <p:nvPr/>
        </p:nvSpPr>
        <p:spPr>
          <a:xfrm>
            <a:off x="640080" y="2926080"/>
            <a:ext cx="6035040" cy="640080"/>
          </a:xfrm>
          <a:prstGeom prst="rect">
            <a:avLst/>
          </a:prstGeom>
          <a:noFill/>
          <a:ln/>
        </p:spPr>
        <p:txBody>
          <a:bodyPr wrap="square" lIns="0" tIns="0" rIns="0" bIns="0" rtlCol="0" anchor="ctr"/>
          <a:lstStyle/>
          <a:p>
            <a:pPr indent="0" marL="0">
              <a:buNone/>
            </a:pPr>
            <a:r>
              <a:rPr lang="en-US" sz="2000" b="1" dirty="0">
                <a:solidFill>
                  <a:srgbClr val="202124"/>
                </a:solidFill>
                <a:latin typeface="Arial" pitchFamily="34" charset="0"/>
                <a:ea typeface="Arial" pitchFamily="34" charset="-122"/>
                <a:cs typeface="Arial" pitchFamily="34" charset="-120"/>
              </a:rPr>
              <a:t>Google shows the roads. RapidRoute decides the dispatch.</a:t>
            </a:r>
            <a:endParaRPr lang="en-US" sz="2000" dirty="0"/>
          </a:p>
        </p:txBody>
      </p:sp>
      <p:sp>
        <p:nvSpPr>
          <p:cNvPr id="7" name="Text 5"/>
          <p:cNvSpPr/>
          <p:nvPr/>
        </p:nvSpPr>
        <p:spPr>
          <a:xfrm>
            <a:off x="640080" y="5989320"/>
            <a:ext cx="6035040" cy="274320"/>
          </a:xfrm>
          <a:prstGeom prst="rect">
            <a:avLst/>
          </a:prstGeom>
          <a:noFill/>
          <a:ln/>
        </p:spPr>
        <p:txBody>
          <a:bodyPr wrap="square" lIns="0" tIns="0" rIns="0" bIns="0" rtlCol="0" anchor="ctr"/>
          <a:lstStyle/>
          <a:p>
            <a:pPr indent="0" marL="0">
              <a:buNone/>
            </a:pPr>
            <a:r>
              <a:rPr lang="en-US" sz="1300" dirty="0">
                <a:solidFill>
                  <a:srgbClr val="5F6368"/>
                </a:solidFill>
                <a:latin typeface="Arial" pitchFamily="34" charset="0"/>
                <a:ea typeface="Arial" pitchFamily="34" charset="-122"/>
                <a:cs typeface="Arial" pitchFamily="34" charset="-120"/>
              </a:rPr>
              <a:t>Emergency dispatch decision layer on Google Routes. Mumbai demo.</a:t>
            </a:r>
            <a:endParaRPr lang="en-US" sz="1300" dirty="0"/>
          </a:p>
        </p:txBody>
      </p:sp>
      <p:sp>
        <p:nvSpPr>
          <p:cNvPr id="8" name="Shape 6"/>
          <p:cNvSpPr/>
          <p:nvPr/>
        </p:nvSpPr>
        <p:spPr>
          <a:xfrm>
            <a:off x="7360920" y="502920"/>
            <a:ext cx="4343400" cy="5852160"/>
          </a:xfrm>
          <a:prstGeom prst="rect">
            <a:avLst/>
          </a:prstGeom>
          <a:solidFill>
            <a:srgbClr val="FFFFFF"/>
          </a:solidFill>
          <a:ln w="12700">
            <a:solidFill>
              <a:srgbClr val="DADCE0"/>
            </a:solidFill>
            <a:prstDash val="solid"/>
          </a:ln>
        </p:spPr>
      </p:sp>
      <p:sp>
        <p:nvSpPr>
          <p:cNvPr id="9" name="Shape 7"/>
          <p:cNvSpPr/>
          <p:nvPr/>
        </p:nvSpPr>
        <p:spPr>
          <a:xfrm>
            <a:off x="7360920" y="502920"/>
            <a:ext cx="4343400" cy="384048"/>
          </a:xfrm>
          <a:prstGeom prst="rect">
            <a:avLst/>
          </a:prstGeom>
          <a:solidFill>
            <a:srgbClr val="FFFFFF"/>
          </a:solidFill>
          <a:ln w="12700">
            <a:solidFill>
              <a:srgbClr val="DADCE0"/>
            </a:solidFill>
            <a:prstDash val="solid"/>
          </a:ln>
        </p:spPr>
      </p:sp>
      <p:sp>
        <p:nvSpPr>
          <p:cNvPr id="10" name="Text 8"/>
          <p:cNvSpPr/>
          <p:nvPr/>
        </p:nvSpPr>
        <p:spPr>
          <a:xfrm>
            <a:off x="7498080" y="548640"/>
            <a:ext cx="4069080" cy="292608"/>
          </a:xfrm>
          <a:prstGeom prst="rect">
            <a:avLst/>
          </a:prstGeom>
          <a:noFill/>
          <a:ln/>
        </p:spPr>
        <p:txBody>
          <a:bodyPr wrap="square" lIns="0" tIns="0" rIns="0" bIns="0" rtlCol="0" anchor="ctr"/>
          <a:lstStyle/>
          <a:p>
            <a:pPr indent="0" marL="0">
              <a:buNone/>
            </a:pPr>
            <a:r>
              <a:rPr lang="en-US" sz="1200" b="1" dirty="0">
                <a:solidFill>
                  <a:srgbClr val="202124"/>
                </a:solidFill>
                <a:latin typeface="Arial" pitchFamily="34" charset="0"/>
                <a:ea typeface="Arial" pitchFamily="34" charset="-122"/>
                <a:cs typeface="Arial" pitchFamily="34" charset="-120"/>
              </a:rPr>
              <a:t>Dadar  →  KEM Hospital</a:t>
            </a:r>
            <a:endParaRPr lang="en-US" sz="1200" dirty="0"/>
          </a:p>
        </p:txBody>
      </p:sp>
      <p:sp>
        <p:nvSpPr>
          <p:cNvPr id="11" name="Shape 9"/>
          <p:cNvSpPr/>
          <p:nvPr/>
        </p:nvSpPr>
        <p:spPr>
          <a:xfrm>
            <a:off x="7543800" y="1143000"/>
            <a:ext cx="3977640" cy="0"/>
          </a:xfrm>
          <a:prstGeom prst="line">
            <a:avLst/>
          </a:prstGeom>
          <a:noFill/>
          <a:ln w="12700">
            <a:solidFill>
              <a:srgbClr val="E8EAED"/>
            </a:solidFill>
            <a:prstDash val="solid"/>
          </a:ln>
        </p:spPr>
      </p:sp>
      <p:sp>
        <p:nvSpPr>
          <p:cNvPr id="12" name="Shape 10"/>
          <p:cNvSpPr/>
          <p:nvPr/>
        </p:nvSpPr>
        <p:spPr>
          <a:xfrm>
            <a:off x="7543800" y="1737360"/>
            <a:ext cx="3977640" cy="0"/>
          </a:xfrm>
          <a:prstGeom prst="line">
            <a:avLst/>
          </a:prstGeom>
          <a:noFill/>
          <a:ln w="12700">
            <a:solidFill>
              <a:srgbClr val="E8EAED"/>
            </a:solidFill>
            <a:prstDash val="solid"/>
          </a:ln>
        </p:spPr>
      </p:sp>
      <p:sp>
        <p:nvSpPr>
          <p:cNvPr id="13" name="Shape 11"/>
          <p:cNvSpPr/>
          <p:nvPr/>
        </p:nvSpPr>
        <p:spPr>
          <a:xfrm>
            <a:off x="7543800" y="2331720"/>
            <a:ext cx="3977640" cy="0"/>
          </a:xfrm>
          <a:prstGeom prst="line">
            <a:avLst/>
          </a:prstGeom>
          <a:noFill/>
          <a:ln w="12700">
            <a:solidFill>
              <a:srgbClr val="E8EAED"/>
            </a:solidFill>
            <a:prstDash val="solid"/>
          </a:ln>
        </p:spPr>
      </p:sp>
      <p:sp>
        <p:nvSpPr>
          <p:cNvPr id="14" name="Shape 12"/>
          <p:cNvSpPr/>
          <p:nvPr/>
        </p:nvSpPr>
        <p:spPr>
          <a:xfrm>
            <a:off x="7543800" y="2926080"/>
            <a:ext cx="3977640" cy="0"/>
          </a:xfrm>
          <a:prstGeom prst="line">
            <a:avLst/>
          </a:prstGeom>
          <a:noFill/>
          <a:ln w="12700">
            <a:solidFill>
              <a:srgbClr val="E8EAED"/>
            </a:solidFill>
            <a:prstDash val="solid"/>
          </a:ln>
        </p:spPr>
      </p:sp>
      <p:sp>
        <p:nvSpPr>
          <p:cNvPr id="15" name="Shape 13"/>
          <p:cNvSpPr/>
          <p:nvPr/>
        </p:nvSpPr>
        <p:spPr>
          <a:xfrm>
            <a:off x="7543800" y="3520440"/>
            <a:ext cx="3977640" cy="0"/>
          </a:xfrm>
          <a:prstGeom prst="line">
            <a:avLst/>
          </a:prstGeom>
          <a:noFill/>
          <a:ln w="12700">
            <a:solidFill>
              <a:srgbClr val="E8EAED"/>
            </a:solidFill>
            <a:prstDash val="solid"/>
          </a:ln>
        </p:spPr>
      </p:sp>
      <p:sp>
        <p:nvSpPr>
          <p:cNvPr id="16" name="Shape 14"/>
          <p:cNvSpPr/>
          <p:nvPr/>
        </p:nvSpPr>
        <p:spPr>
          <a:xfrm>
            <a:off x="7543800" y="4114800"/>
            <a:ext cx="3977640" cy="0"/>
          </a:xfrm>
          <a:prstGeom prst="line">
            <a:avLst/>
          </a:prstGeom>
          <a:noFill/>
          <a:ln w="12700">
            <a:solidFill>
              <a:srgbClr val="E8EAED"/>
            </a:solidFill>
            <a:prstDash val="solid"/>
          </a:ln>
        </p:spPr>
      </p:sp>
      <p:sp>
        <p:nvSpPr>
          <p:cNvPr id="17" name="Shape 15"/>
          <p:cNvSpPr/>
          <p:nvPr/>
        </p:nvSpPr>
        <p:spPr>
          <a:xfrm>
            <a:off x="7543800" y="4709160"/>
            <a:ext cx="3977640" cy="0"/>
          </a:xfrm>
          <a:prstGeom prst="line">
            <a:avLst/>
          </a:prstGeom>
          <a:noFill/>
          <a:ln w="12700">
            <a:solidFill>
              <a:srgbClr val="E8EAED"/>
            </a:solidFill>
            <a:prstDash val="solid"/>
          </a:ln>
        </p:spPr>
      </p:sp>
      <p:sp>
        <p:nvSpPr>
          <p:cNvPr id="18" name="Shape 16"/>
          <p:cNvSpPr/>
          <p:nvPr/>
        </p:nvSpPr>
        <p:spPr>
          <a:xfrm>
            <a:off x="7543800" y="5303520"/>
            <a:ext cx="3977640" cy="0"/>
          </a:xfrm>
          <a:prstGeom prst="line">
            <a:avLst/>
          </a:prstGeom>
          <a:noFill/>
          <a:ln w="12700">
            <a:solidFill>
              <a:srgbClr val="E8EAED"/>
            </a:solidFill>
            <a:prstDash val="solid"/>
          </a:ln>
        </p:spPr>
      </p:sp>
      <p:sp>
        <p:nvSpPr>
          <p:cNvPr id="19" name="Shape 17"/>
          <p:cNvSpPr/>
          <p:nvPr/>
        </p:nvSpPr>
        <p:spPr>
          <a:xfrm>
            <a:off x="7726680" y="1051560"/>
            <a:ext cx="0" cy="4937760"/>
          </a:xfrm>
          <a:prstGeom prst="line">
            <a:avLst/>
          </a:prstGeom>
          <a:noFill/>
          <a:ln w="12700">
            <a:solidFill>
              <a:srgbClr val="EEF1F4"/>
            </a:solidFill>
            <a:prstDash val="solid"/>
          </a:ln>
        </p:spPr>
      </p:sp>
      <p:sp>
        <p:nvSpPr>
          <p:cNvPr id="20" name="Shape 18"/>
          <p:cNvSpPr/>
          <p:nvPr/>
        </p:nvSpPr>
        <p:spPr>
          <a:xfrm>
            <a:off x="8385048" y="1051560"/>
            <a:ext cx="0" cy="4937760"/>
          </a:xfrm>
          <a:prstGeom prst="line">
            <a:avLst/>
          </a:prstGeom>
          <a:noFill/>
          <a:ln w="12700">
            <a:solidFill>
              <a:srgbClr val="EEF1F4"/>
            </a:solidFill>
            <a:prstDash val="solid"/>
          </a:ln>
        </p:spPr>
      </p:sp>
      <p:sp>
        <p:nvSpPr>
          <p:cNvPr id="21" name="Shape 19"/>
          <p:cNvSpPr/>
          <p:nvPr/>
        </p:nvSpPr>
        <p:spPr>
          <a:xfrm>
            <a:off x="9043416" y="1051560"/>
            <a:ext cx="0" cy="4937760"/>
          </a:xfrm>
          <a:prstGeom prst="line">
            <a:avLst/>
          </a:prstGeom>
          <a:noFill/>
          <a:ln w="12700">
            <a:solidFill>
              <a:srgbClr val="EEF1F4"/>
            </a:solidFill>
            <a:prstDash val="solid"/>
          </a:ln>
        </p:spPr>
      </p:sp>
      <p:sp>
        <p:nvSpPr>
          <p:cNvPr id="22" name="Shape 20"/>
          <p:cNvSpPr/>
          <p:nvPr/>
        </p:nvSpPr>
        <p:spPr>
          <a:xfrm>
            <a:off x="9701784" y="1051560"/>
            <a:ext cx="0" cy="4937760"/>
          </a:xfrm>
          <a:prstGeom prst="line">
            <a:avLst/>
          </a:prstGeom>
          <a:noFill/>
          <a:ln w="12700">
            <a:solidFill>
              <a:srgbClr val="EEF1F4"/>
            </a:solidFill>
            <a:prstDash val="solid"/>
          </a:ln>
        </p:spPr>
      </p:sp>
      <p:sp>
        <p:nvSpPr>
          <p:cNvPr id="23" name="Shape 21"/>
          <p:cNvSpPr/>
          <p:nvPr/>
        </p:nvSpPr>
        <p:spPr>
          <a:xfrm>
            <a:off x="10360152" y="1051560"/>
            <a:ext cx="0" cy="4937760"/>
          </a:xfrm>
          <a:prstGeom prst="line">
            <a:avLst/>
          </a:prstGeom>
          <a:noFill/>
          <a:ln w="12700">
            <a:solidFill>
              <a:srgbClr val="EEF1F4"/>
            </a:solidFill>
            <a:prstDash val="solid"/>
          </a:ln>
        </p:spPr>
      </p:sp>
      <p:sp>
        <p:nvSpPr>
          <p:cNvPr id="24" name="Shape 22"/>
          <p:cNvSpPr/>
          <p:nvPr/>
        </p:nvSpPr>
        <p:spPr>
          <a:xfrm>
            <a:off x="11018520" y="1051560"/>
            <a:ext cx="0" cy="4937760"/>
          </a:xfrm>
          <a:prstGeom prst="line">
            <a:avLst/>
          </a:prstGeom>
          <a:noFill/>
          <a:ln w="12700">
            <a:solidFill>
              <a:srgbClr val="EEF1F4"/>
            </a:solidFill>
            <a:prstDash val="solid"/>
          </a:ln>
        </p:spPr>
      </p:sp>
      <p:sp>
        <p:nvSpPr>
          <p:cNvPr id="25" name="Shape 23"/>
          <p:cNvSpPr/>
          <p:nvPr/>
        </p:nvSpPr>
        <p:spPr>
          <a:xfrm>
            <a:off x="7818120" y="1920240"/>
            <a:ext cx="3383280" cy="3108960"/>
          </a:xfrm>
          <a:prstGeom prst="line">
            <a:avLst/>
          </a:prstGeom>
          <a:noFill/>
          <a:ln w="44450">
            <a:solidFill>
              <a:srgbClr val="9AA0A6"/>
            </a:solidFill>
            <a:prstDash val="solid"/>
          </a:ln>
        </p:spPr>
      </p:sp>
      <p:sp>
        <p:nvSpPr>
          <p:cNvPr id="26" name="Shape 24"/>
          <p:cNvSpPr/>
          <p:nvPr/>
        </p:nvSpPr>
        <p:spPr>
          <a:xfrm>
            <a:off x="7955280" y="2148840"/>
            <a:ext cx="3063240" cy="2606040"/>
          </a:xfrm>
          <a:prstGeom prst="line">
            <a:avLst/>
          </a:prstGeom>
          <a:noFill/>
          <a:ln w="63500">
            <a:solidFill>
              <a:srgbClr val="1A73E8"/>
            </a:solidFill>
            <a:prstDash val="solid"/>
          </a:ln>
        </p:spPr>
      </p:sp>
      <p:sp>
        <p:nvSpPr>
          <p:cNvPr id="27" name="Shape 25"/>
          <p:cNvSpPr/>
          <p:nvPr/>
        </p:nvSpPr>
        <p:spPr>
          <a:xfrm>
            <a:off x="7790688" y="1874520"/>
            <a:ext cx="256032" cy="256032"/>
          </a:xfrm>
          <a:prstGeom prst="ellipse">
            <a:avLst/>
          </a:prstGeom>
          <a:solidFill>
            <a:srgbClr val="E37400"/>
          </a:solidFill>
          <a:ln w="19050">
            <a:solidFill>
              <a:srgbClr val="FFFFFF"/>
            </a:solidFill>
            <a:prstDash val="solid"/>
          </a:ln>
        </p:spPr>
      </p:sp>
      <p:sp>
        <p:nvSpPr>
          <p:cNvPr id="28" name="Text 26"/>
          <p:cNvSpPr/>
          <p:nvPr/>
        </p:nvSpPr>
        <p:spPr>
          <a:xfrm>
            <a:off x="8092440" y="1783080"/>
            <a:ext cx="1280160" cy="219456"/>
          </a:xfrm>
          <a:prstGeom prst="rect">
            <a:avLst/>
          </a:prstGeom>
          <a:noFill/>
          <a:ln/>
        </p:spPr>
        <p:txBody>
          <a:bodyPr wrap="square" lIns="0" tIns="0" rIns="0" bIns="0" rtlCol="0" anchor="ctr"/>
          <a:lstStyle/>
          <a:p>
            <a:pPr indent="0" marL="0">
              <a:buNone/>
            </a:pPr>
            <a:r>
              <a:rPr lang="en-US" sz="1000" b="1" dirty="0">
                <a:solidFill>
                  <a:srgbClr val="202124"/>
                </a:solidFill>
                <a:latin typeface="Arial" pitchFamily="34" charset="0"/>
                <a:ea typeface="Arial" pitchFamily="34" charset="-122"/>
                <a:cs typeface="Arial" pitchFamily="34" charset="-120"/>
              </a:rPr>
              <a:t>AMB-101</a:t>
            </a:r>
            <a:endParaRPr lang="en-US" sz="1000" dirty="0"/>
          </a:p>
        </p:txBody>
      </p:sp>
      <p:sp>
        <p:nvSpPr>
          <p:cNvPr id="29" name="Shape 27"/>
          <p:cNvSpPr/>
          <p:nvPr/>
        </p:nvSpPr>
        <p:spPr>
          <a:xfrm>
            <a:off x="10835640" y="4617720"/>
            <a:ext cx="292608" cy="292608"/>
          </a:xfrm>
          <a:prstGeom prst="ellipse">
            <a:avLst/>
          </a:prstGeom>
          <a:solidFill>
            <a:srgbClr val="D93025"/>
          </a:solidFill>
          <a:ln w="19050">
            <a:solidFill>
              <a:srgbClr val="FFFFFF"/>
            </a:solidFill>
            <a:prstDash val="solid"/>
          </a:ln>
        </p:spPr>
      </p:sp>
      <p:sp>
        <p:nvSpPr>
          <p:cNvPr id="30" name="Text 28"/>
          <p:cNvSpPr/>
          <p:nvPr/>
        </p:nvSpPr>
        <p:spPr>
          <a:xfrm>
            <a:off x="10835640" y="4626864"/>
            <a:ext cx="29260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H</a:t>
            </a:r>
            <a:endParaRPr lang="en-US" sz="1100" dirty="0"/>
          </a:p>
        </p:txBody>
      </p:sp>
      <p:sp>
        <p:nvSpPr>
          <p:cNvPr id="31" name="Text 29"/>
          <p:cNvSpPr/>
          <p:nvPr/>
        </p:nvSpPr>
        <p:spPr>
          <a:xfrm>
            <a:off x="7543800" y="5897880"/>
            <a:ext cx="3977640" cy="256032"/>
          </a:xfrm>
          <a:prstGeom prst="rect">
            <a:avLst/>
          </a:prstGeom>
          <a:noFill/>
          <a:ln/>
        </p:spPr>
        <p:txBody>
          <a:bodyPr wrap="square" lIns="0" tIns="0" rIns="0" bIns="0" rtlCol="0" anchor="ctr"/>
          <a:lstStyle/>
          <a:p>
            <a:pPr indent="0" marL="0">
              <a:buNone/>
            </a:pPr>
            <a:r>
              <a:rPr lang="en-US" sz="1100" b="1" dirty="0">
                <a:solidFill>
                  <a:srgbClr val="1A73E8"/>
                </a:solidFill>
                <a:latin typeface="Arial" pitchFamily="34" charset="0"/>
                <a:ea typeface="Arial" pitchFamily="34" charset="-122"/>
                <a:cs typeface="Arial" pitchFamily="34" charset="-120"/>
              </a:rPr>
              <a:t>Route A recommended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02920" y="201168"/>
            <a:ext cx="7315200" cy="201168"/>
          </a:xfrm>
          <a:prstGeom prst="rect">
            <a:avLst/>
          </a:prstGeom>
          <a:noFill/>
          <a:ln/>
        </p:spPr>
        <p:txBody>
          <a:bodyPr wrap="square" lIns="0" tIns="0" rIns="0" bIns="0" rtlCol="0" anchor="ctr"/>
          <a:lstStyle/>
          <a:p>
            <a:pPr indent="0" marL="0">
              <a:buNone/>
            </a:pPr>
            <a:r>
              <a:rPr lang="en-US" sz="1100" b="1" spc="140" kern="0" dirty="0">
                <a:solidFill>
                  <a:srgbClr val="5F6368"/>
                </a:solidFill>
                <a:latin typeface="Arial" pitchFamily="34" charset="0"/>
                <a:ea typeface="Arial" pitchFamily="34" charset="-122"/>
                <a:cs typeface="Arial" pitchFamily="34" charset="-120"/>
              </a:rPr>
              <a:t>THE OPERATIONAL GAP</a:t>
            </a:r>
            <a:endParaRPr lang="en-US" sz="1100" dirty="0"/>
          </a:p>
        </p:txBody>
      </p:sp>
      <p:sp>
        <p:nvSpPr>
          <p:cNvPr id="3" name="Text 1"/>
          <p:cNvSpPr/>
          <p:nvPr/>
        </p:nvSpPr>
        <p:spPr>
          <a:xfrm>
            <a:off x="502920" y="438912"/>
            <a:ext cx="11155680" cy="457200"/>
          </a:xfrm>
          <a:prstGeom prst="rect">
            <a:avLst/>
          </a:prstGeom>
          <a:noFill/>
          <a:ln/>
        </p:spPr>
        <p:txBody>
          <a:bodyPr wrap="square" lIns="0" tIns="0" rIns="0" bIns="0" rtlCol="0" anchor="ctr"/>
          <a:lstStyle/>
          <a:p>
            <a:pPr indent="0" marL="0">
              <a:buNone/>
            </a:pPr>
            <a:r>
              <a:rPr lang="en-US" sz="2800" b="1" dirty="0">
                <a:solidFill>
                  <a:srgbClr val="202124"/>
                </a:solidFill>
                <a:latin typeface="Arial" pitchFamily="34" charset="0"/>
                <a:ea typeface="Arial" pitchFamily="34" charset="-122"/>
                <a:cs typeface="Arial" pitchFamily="34" charset="-120"/>
              </a:rPr>
              <a:t>Every second matters.</a:t>
            </a:r>
            <a:endParaRPr lang="en-US" sz="2800" dirty="0"/>
          </a:p>
        </p:txBody>
      </p:sp>
      <p:sp>
        <p:nvSpPr>
          <p:cNvPr id="4" name="Shape 2"/>
          <p:cNvSpPr/>
          <p:nvPr/>
        </p:nvSpPr>
        <p:spPr>
          <a:xfrm>
            <a:off x="502920" y="1188720"/>
            <a:ext cx="3611880" cy="1280160"/>
          </a:xfrm>
          <a:prstGeom prst="rect">
            <a:avLst/>
          </a:prstGeom>
          <a:solidFill>
            <a:srgbClr val="FFFFFF"/>
          </a:solidFill>
          <a:ln w="12700">
            <a:solidFill>
              <a:srgbClr val="DADCE0"/>
            </a:solidFill>
            <a:prstDash val="solid"/>
          </a:ln>
        </p:spPr>
      </p:sp>
      <p:sp>
        <p:nvSpPr>
          <p:cNvPr id="5" name="Shape 3"/>
          <p:cNvSpPr/>
          <p:nvPr/>
        </p:nvSpPr>
        <p:spPr>
          <a:xfrm>
            <a:off x="502920" y="1188720"/>
            <a:ext cx="73152" cy="1280160"/>
          </a:xfrm>
          <a:prstGeom prst="rect">
            <a:avLst/>
          </a:prstGeom>
          <a:solidFill>
            <a:srgbClr val="1A73E8"/>
          </a:solidFill>
          <a:ln w="12700">
            <a:solidFill>
              <a:srgbClr val="1A73E8"/>
            </a:solidFill>
            <a:prstDash val="solid"/>
          </a:ln>
        </p:spPr>
      </p:sp>
      <p:sp>
        <p:nvSpPr>
          <p:cNvPr id="6" name="Text 4"/>
          <p:cNvSpPr/>
          <p:nvPr/>
        </p:nvSpPr>
        <p:spPr>
          <a:xfrm>
            <a:off x="731520" y="1353312"/>
            <a:ext cx="3200400" cy="292608"/>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Right unit</a:t>
            </a:r>
            <a:endParaRPr lang="en-US" sz="1600" dirty="0"/>
          </a:p>
        </p:txBody>
      </p:sp>
      <p:sp>
        <p:nvSpPr>
          <p:cNvPr id="7" name="Text 5"/>
          <p:cNvSpPr/>
          <p:nvPr/>
        </p:nvSpPr>
        <p:spPr>
          <a:xfrm>
            <a:off x="731520" y="1691640"/>
            <a:ext cx="3200400" cy="640080"/>
          </a:xfrm>
          <a:prstGeom prst="rect">
            <a:avLst/>
          </a:prstGeom>
          <a:noFill/>
          <a:ln/>
        </p:spPr>
        <p:txBody>
          <a:bodyPr wrap="square" lIns="0" tIns="0" rIns="0" bIns="0" rtlCol="0" anchor="ctr"/>
          <a:lstStyle/>
          <a:p>
            <a:pPr indent="0" marL="0">
              <a:buNone/>
            </a:pPr>
            <a:r>
              <a:rPr lang="en-US" sz="1300" dirty="0">
                <a:solidFill>
                  <a:srgbClr val="5F6368"/>
                </a:solidFill>
                <a:latin typeface="Arial" pitchFamily="34" charset="0"/>
                <a:ea typeface="Arial" pitchFamily="34" charset="-122"/>
                <a:cs typeface="Arial" pitchFamily="34" charset="-120"/>
              </a:rPr>
              <a:t>Dispatchers need the available, compatible ambulance, not the nearest pin on a consumer map.</a:t>
            </a:r>
            <a:endParaRPr lang="en-US" sz="1300" dirty="0"/>
          </a:p>
        </p:txBody>
      </p:sp>
      <p:sp>
        <p:nvSpPr>
          <p:cNvPr id="8" name="Shape 6"/>
          <p:cNvSpPr/>
          <p:nvPr/>
        </p:nvSpPr>
        <p:spPr>
          <a:xfrm>
            <a:off x="4297680" y="1188720"/>
            <a:ext cx="3611880" cy="1280160"/>
          </a:xfrm>
          <a:prstGeom prst="rect">
            <a:avLst/>
          </a:prstGeom>
          <a:solidFill>
            <a:srgbClr val="FFFFFF"/>
          </a:solidFill>
          <a:ln w="12700">
            <a:solidFill>
              <a:srgbClr val="DADCE0"/>
            </a:solidFill>
            <a:prstDash val="solid"/>
          </a:ln>
        </p:spPr>
      </p:sp>
      <p:sp>
        <p:nvSpPr>
          <p:cNvPr id="9" name="Shape 7"/>
          <p:cNvSpPr/>
          <p:nvPr/>
        </p:nvSpPr>
        <p:spPr>
          <a:xfrm>
            <a:off x="4297680" y="1188720"/>
            <a:ext cx="73152" cy="1280160"/>
          </a:xfrm>
          <a:prstGeom prst="rect">
            <a:avLst/>
          </a:prstGeom>
          <a:solidFill>
            <a:srgbClr val="1A73E8"/>
          </a:solidFill>
          <a:ln w="12700">
            <a:solidFill>
              <a:srgbClr val="1A73E8"/>
            </a:solidFill>
            <a:prstDash val="solid"/>
          </a:ln>
        </p:spPr>
      </p:sp>
      <p:sp>
        <p:nvSpPr>
          <p:cNvPr id="10" name="Text 8"/>
          <p:cNvSpPr/>
          <p:nvPr/>
        </p:nvSpPr>
        <p:spPr>
          <a:xfrm>
            <a:off x="4526280" y="1353312"/>
            <a:ext cx="3200400" cy="292608"/>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Right route</a:t>
            </a:r>
            <a:endParaRPr lang="en-US" sz="1600" dirty="0"/>
          </a:p>
        </p:txBody>
      </p:sp>
      <p:sp>
        <p:nvSpPr>
          <p:cNvPr id="11" name="Text 9"/>
          <p:cNvSpPr/>
          <p:nvPr/>
        </p:nvSpPr>
        <p:spPr>
          <a:xfrm>
            <a:off x="4526280" y="1691640"/>
            <a:ext cx="3200400" cy="640080"/>
          </a:xfrm>
          <a:prstGeom prst="rect">
            <a:avLst/>
          </a:prstGeom>
          <a:noFill/>
          <a:ln/>
        </p:spPr>
        <p:txBody>
          <a:bodyPr wrap="square" lIns="0" tIns="0" rIns="0" bIns="0" rtlCol="0" anchor="ctr"/>
          <a:lstStyle/>
          <a:p>
            <a:pPr indent="0" marL="0">
              <a:buNone/>
            </a:pPr>
            <a:r>
              <a:rPr lang="en-US" sz="1300" dirty="0">
                <a:solidFill>
                  <a:srgbClr val="5F6368"/>
                </a:solidFill>
                <a:latin typeface="Arial" pitchFamily="34" charset="0"/>
                <a:ea typeface="Arial" pitchFamily="34" charset="-122"/>
                <a:cs typeface="Arial" pitchFamily="34" charset="-120"/>
              </a:rPr>
              <a:t>Emergency vehicles need the right route, not simply any route Google happens to list first.</a:t>
            </a:r>
            <a:endParaRPr lang="en-US" sz="1300" dirty="0"/>
          </a:p>
        </p:txBody>
      </p:sp>
      <p:sp>
        <p:nvSpPr>
          <p:cNvPr id="12" name="Shape 10"/>
          <p:cNvSpPr/>
          <p:nvPr/>
        </p:nvSpPr>
        <p:spPr>
          <a:xfrm>
            <a:off x="502920" y="2606040"/>
            <a:ext cx="3611880" cy="1280160"/>
          </a:xfrm>
          <a:prstGeom prst="rect">
            <a:avLst/>
          </a:prstGeom>
          <a:solidFill>
            <a:srgbClr val="FFFFFF"/>
          </a:solidFill>
          <a:ln w="12700">
            <a:solidFill>
              <a:srgbClr val="DADCE0"/>
            </a:solidFill>
            <a:prstDash val="solid"/>
          </a:ln>
        </p:spPr>
      </p:sp>
      <p:sp>
        <p:nvSpPr>
          <p:cNvPr id="13" name="Shape 11"/>
          <p:cNvSpPr/>
          <p:nvPr/>
        </p:nvSpPr>
        <p:spPr>
          <a:xfrm>
            <a:off x="502920" y="2606040"/>
            <a:ext cx="73152" cy="1280160"/>
          </a:xfrm>
          <a:prstGeom prst="rect">
            <a:avLst/>
          </a:prstGeom>
          <a:solidFill>
            <a:srgbClr val="D93025"/>
          </a:solidFill>
          <a:ln w="12700">
            <a:solidFill>
              <a:srgbClr val="D93025"/>
            </a:solidFill>
            <a:prstDash val="solid"/>
          </a:ln>
        </p:spPr>
      </p:sp>
      <p:sp>
        <p:nvSpPr>
          <p:cNvPr id="14" name="Text 12"/>
          <p:cNvSpPr/>
          <p:nvPr/>
        </p:nvSpPr>
        <p:spPr>
          <a:xfrm>
            <a:off x="731520" y="2770632"/>
            <a:ext cx="3200400" cy="292608"/>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Conditions change</a:t>
            </a:r>
            <a:endParaRPr lang="en-US" sz="1600" dirty="0"/>
          </a:p>
        </p:txBody>
      </p:sp>
      <p:sp>
        <p:nvSpPr>
          <p:cNvPr id="15" name="Text 13"/>
          <p:cNvSpPr/>
          <p:nvPr/>
        </p:nvSpPr>
        <p:spPr>
          <a:xfrm>
            <a:off x="731520" y="3108960"/>
            <a:ext cx="3200400" cy="640080"/>
          </a:xfrm>
          <a:prstGeom prst="rect">
            <a:avLst/>
          </a:prstGeom>
          <a:noFill/>
          <a:ln/>
        </p:spPr>
        <p:txBody>
          <a:bodyPr wrap="square" lIns="0" tIns="0" rIns="0" bIns="0" rtlCol="0" anchor="ctr"/>
          <a:lstStyle/>
          <a:p>
            <a:pPr indent="0" marL="0">
              <a:buNone/>
            </a:pPr>
            <a:r>
              <a:rPr lang="en-US" sz="1300" dirty="0">
                <a:solidFill>
                  <a:srgbClr val="5F6368"/>
                </a:solidFill>
                <a:latin typeface="Arial" pitchFamily="34" charset="0"/>
                <a:ea typeface="Arial" pitchFamily="34" charset="-122"/>
                <a:cs typeface="Arial" pitchFamily="34" charset="-120"/>
              </a:rPr>
              <a:t>Traffic can shift. A corridor can become unsafe or unavailable mid-journey.</a:t>
            </a:r>
            <a:endParaRPr lang="en-US" sz="1300" dirty="0"/>
          </a:p>
        </p:txBody>
      </p:sp>
      <p:sp>
        <p:nvSpPr>
          <p:cNvPr id="16" name="Shape 14"/>
          <p:cNvSpPr/>
          <p:nvPr/>
        </p:nvSpPr>
        <p:spPr>
          <a:xfrm>
            <a:off x="4297680" y="2606040"/>
            <a:ext cx="3611880" cy="1280160"/>
          </a:xfrm>
          <a:prstGeom prst="rect">
            <a:avLst/>
          </a:prstGeom>
          <a:solidFill>
            <a:srgbClr val="FFFFFF"/>
          </a:solidFill>
          <a:ln w="12700">
            <a:solidFill>
              <a:srgbClr val="DADCE0"/>
            </a:solidFill>
            <a:prstDash val="solid"/>
          </a:ln>
        </p:spPr>
      </p:sp>
      <p:sp>
        <p:nvSpPr>
          <p:cNvPr id="17" name="Shape 15"/>
          <p:cNvSpPr/>
          <p:nvPr/>
        </p:nvSpPr>
        <p:spPr>
          <a:xfrm>
            <a:off x="4297680" y="2606040"/>
            <a:ext cx="73152" cy="1280160"/>
          </a:xfrm>
          <a:prstGeom prst="rect">
            <a:avLst/>
          </a:prstGeom>
          <a:solidFill>
            <a:srgbClr val="1A73E8"/>
          </a:solidFill>
          <a:ln w="12700">
            <a:solidFill>
              <a:srgbClr val="1A73E8"/>
            </a:solidFill>
            <a:prstDash val="solid"/>
          </a:ln>
        </p:spPr>
      </p:sp>
      <p:sp>
        <p:nvSpPr>
          <p:cNvPr id="18" name="Text 16"/>
          <p:cNvSpPr/>
          <p:nvPr/>
        </p:nvSpPr>
        <p:spPr>
          <a:xfrm>
            <a:off x="4526280" y="2770632"/>
            <a:ext cx="3200400" cy="292608"/>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Must be explainable</a:t>
            </a:r>
            <a:endParaRPr lang="en-US" sz="1600" dirty="0"/>
          </a:p>
        </p:txBody>
      </p:sp>
      <p:sp>
        <p:nvSpPr>
          <p:cNvPr id="19" name="Text 17"/>
          <p:cNvSpPr/>
          <p:nvPr/>
        </p:nvSpPr>
        <p:spPr>
          <a:xfrm>
            <a:off x="4526280" y="3108960"/>
            <a:ext cx="3200400" cy="640080"/>
          </a:xfrm>
          <a:prstGeom prst="rect">
            <a:avLst/>
          </a:prstGeom>
          <a:noFill/>
          <a:ln/>
        </p:spPr>
        <p:txBody>
          <a:bodyPr wrap="square" lIns="0" tIns="0" rIns="0" bIns="0" rtlCol="0" anchor="ctr"/>
          <a:lstStyle/>
          <a:p>
            <a:pPr indent="0" marL="0">
              <a:buNone/>
            </a:pPr>
            <a:r>
              <a:rPr lang="en-US" sz="1300" dirty="0">
                <a:solidFill>
                  <a:srgbClr val="5F6368"/>
                </a:solidFill>
                <a:latin typeface="Arial" pitchFamily="34" charset="0"/>
                <a:ea typeface="Arial" pitchFamily="34" charset="-122"/>
                <a:cs typeface="Arial" pitchFamily="34" charset="-120"/>
              </a:rPr>
              <a:t>A control room needs a written reason, not a black-box suggestion.</a:t>
            </a:r>
            <a:endParaRPr lang="en-US" sz="1300" dirty="0"/>
          </a:p>
        </p:txBody>
      </p:sp>
      <p:sp>
        <p:nvSpPr>
          <p:cNvPr id="20" name="Shape 18"/>
          <p:cNvSpPr/>
          <p:nvPr/>
        </p:nvSpPr>
        <p:spPr>
          <a:xfrm>
            <a:off x="8092440" y="1188720"/>
            <a:ext cx="3611880" cy="4114800"/>
          </a:xfrm>
          <a:prstGeom prst="rect">
            <a:avLst/>
          </a:prstGeom>
          <a:solidFill>
            <a:srgbClr val="FFFFFF"/>
          </a:solidFill>
          <a:ln w="12700">
            <a:solidFill>
              <a:srgbClr val="DADCE0"/>
            </a:solidFill>
            <a:prstDash val="solid"/>
          </a:ln>
        </p:spPr>
      </p:sp>
      <p:sp>
        <p:nvSpPr>
          <p:cNvPr id="21" name="Text 19"/>
          <p:cNvSpPr/>
          <p:nvPr/>
        </p:nvSpPr>
        <p:spPr>
          <a:xfrm>
            <a:off x="8275320" y="1353312"/>
            <a:ext cx="3246120" cy="274320"/>
          </a:xfrm>
          <a:prstGeom prst="rect">
            <a:avLst/>
          </a:prstGeom>
          <a:noFill/>
          <a:ln/>
        </p:spPr>
        <p:txBody>
          <a:bodyPr wrap="square" lIns="0" tIns="0" rIns="0" bIns="0" rtlCol="0" anchor="ctr"/>
          <a:lstStyle/>
          <a:p>
            <a:pPr indent="0" marL="0">
              <a:buNone/>
            </a:pPr>
            <a:r>
              <a:rPr lang="en-US" sz="1300" b="1" dirty="0">
                <a:solidFill>
                  <a:srgbClr val="5F6368"/>
                </a:solidFill>
                <a:latin typeface="Arial" pitchFamily="34" charset="0"/>
                <a:ea typeface="Arial" pitchFamily="34" charset="-122"/>
                <a:cs typeface="Arial" pitchFamily="34" charset="-120"/>
              </a:rPr>
              <a:t>What can break a run</a:t>
            </a:r>
            <a:endParaRPr lang="en-US" sz="1300" dirty="0"/>
          </a:p>
        </p:txBody>
      </p:sp>
      <p:sp>
        <p:nvSpPr>
          <p:cNvPr id="22" name="Shape 20"/>
          <p:cNvSpPr/>
          <p:nvPr/>
        </p:nvSpPr>
        <p:spPr>
          <a:xfrm>
            <a:off x="8366760" y="1828800"/>
            <a:ext cx="347472" cy="347472"/>
          </a:xfrm>
          <a:prstGeom prst="ellipse">
            <a:avLst/>
          </a:prstGeom>
          <a:solidFill>
            <a:srgbClr val="1A73E8"/>
          </a:solidFill>
          <a:ln w="12700">
            <a:solidFill>
              <a:srgbClr val="1A73E8"/>
            </a:solidFill>
            <a:prstDash val="solid"/>
          </a:ln>
        </p:spPr>
      </p:sp>
      <p:sp>
        <p:nvSpPr>
          <p:cNvPr id="23" name="Text 21"/>
          <p:cNvSpPr/>
          <p:nvPr/>
        </p:nvSpPr>
        <p:spPr>
          <a:xfrm>
            <a:off x="83667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4" name="Text 22"/>
          <p:cNvSpPr/>
          <p:nvPr/>
        </p:nvSpPr>
        <p:spPr>
          <a:xfrm>
            <a:off x="8823960" y="1828800"/>
            <a:ext cx="2651760" cy="347472"/>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Ambulance assigned</a:t>
            </a:r>
            <a:endParaRPr lang="en-US" sz="1400" dirty="0"/>
          </a:p>
        </p:txBody>
      </p:sp>
      <p:sp>
        <p:nvSpPr>
          <p:cNvPr id="25" name="Shape 23"/>
          <p:cNvSpPr/>
          <p:nvPr/>
        </p:nvSpPr>
        <p:spPr>
          <a:xfrm>
            <a:off x="8531352" y="2176272"/>
            <a:ext cx="0" cy="429768"/>
          </a:xfrm>
          <a:prstGeom prst="line">
            <a:avLst/>
          </a:prstGeom>
          <a:noFill/>
          <a:ln w="19050">
            <a:solidFill>
              <a:srgbClr val="DADCE0"/>
            </a:solidFill>
            <a:prstDash val="solid"/>
          </a:ln>
        </p:spPr>
      </p:sp>
      <p:sp>
        <p:nvSpPr>
          <p:cNvPr id="26" name="Shape 24"/>
          <p:cNvSpPr/>
          <p:nvPr/>
        </p:nvSpPr>
        <p:spPr>
          <a:xfrm>
            <a:off x="8366760" y="2606040"/>
            <a:ext cx="347472" cy="347472"/>
          </a:xfrm>
          <a:prstGeom prst="ellipse">
            <a:avLst/>
          </a:prstGeom>
          <a:solidFill>
            <a:srgbClr val="E37400"/>
          </a:solidFill>
          <a:ln w="12700">
            <a:solidFill>
              <a:srgbClr val="E37400"/>
            </a:solidFill>
            <a:prstDash val="solid"/>
          </a:ln>
        </p:spPr>
      </p:sp>
      <p:sp>
        <p:nvSpPr>
          <p:cNvPr id="27" name="Text 25"/>
          <p:cNvSpPr/>
          <p:nvPr/>
        </p:nvSpPr>
        <p:spPr>
          <a:xfrm>
            <a:off x="8366760" y="26060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8" name="Text 26"/>
          <p:cNvSpPr/>
          <p:nvPr/>
        </p:nvSpPr>
        <p:spPr>
          <a:xfrm>
            <a:off x="8823960" y="2606040"/>
            <a:ext cx="2651760" cy="347472"/>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Live traffic on the corridor</a:t>
            </a:r>
            <a:endParaRPr lang="en-US" sz="1400" dirty="0"/>
          </a:p>
        </p:txBody>
      </p:sp>
      <p:sp>
        <p:nvSpPr>
          <p:cNvPr id="29" name="Shape 27"/>
          <p:cNvSpPr/>
          <p:nvPr/>
        </p:nvSpPr>
        <p:spPr>
          <a:xfrm>
            <a:off x="8531352" y="2953512"/>
            <a:ext cx="0" cy="429768"/>
          </a:xfrm>
          <a:prstGeom prst="line">
            <a:avLst/>
          </a:prstGeom>
          <a:noFill/>
          <a:ln w="19050">
            <a:solidFill>
              <a:srgbClr val="DADCE0"/>
            </a:solidFill>
            <a:prstDash val="solid"/>
          </a:ln>
        </p:spPr>
      </p:sp>
      <p:sp>
        <p:nvSpPr>
          <p:cNvPr id="30" name="Shape 28"/>
          <p:cNvSpPr/>
          <p:nvPr/>
        </p:nvSpPr>
        <p:spPr>
          <a:xfrm>
            <a:off x="8366760" y="3383280"/>
            <a:ext cx="347472" cy="347472"/>
          </a:xfrm>
          <a:prstGeom prst="ellipse">
            <a:avLst/>
          </a:prstGeom>
          <a:solidFill>
            <a:srgbClr val="D93025"/>
          </a:solidFill>
          <a:ln w="12700">
            <a:solidFill>
              <a:srgbClr val="D93025"/>
            </a:solidFill>
            <a:prstDash val="solid"/>
          </a:ln>
        </p:spPr>
      </p:sp>
      <p:sp>
        <p:nvSpPr>
          <p:cNvPr id="31" name="Text 29"/>
          <p:cNvSpPr/>
          <p:nvPr/>
        </p:nvSpPr>
        <p:spPr>
          <a:xfrm>
            <a:off x="8366760" y="33832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32" name="Text 30"/>
          <p:cNvSpPr/>
          <p:nvPr/>
        </p:nvSpPr>
        <p:spPr>
          <a:xfrm>
            <a:off x="8823960" y="3383280"/>
            <a:ext cx="2651760" cy="347472"/>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Road becomes blocked</a:t>
            </a:r>
            <a:endParaRPr lang="en-US" sz="1400" dirty="0"/>
          </a:p>
        </p:txBody>
      </p:sp>
      <p:sp>
        <p:nvSpPr>
          <p:cNvPr id="33" name="Shape 31"/>
          <p:cNvSpPr/>
          <p:nvPr/>
        </p:nvSpPr>
        <p:spPr>
          <a:xfrm>
            <a:off x="8531352" y="3730752"/>
            <a:ext cx="0" cy="429768"/>
          </a:xfrm>
          <a:prstGeom prst="line">
            <a:avLst/>
          </a:prstGeom>
          <a:noFill/>
          <a:ln w="19050">
            <a:solidFill>
              <a:srgbClr val="DADCE0"/>
            </a:solidFill>
            <a:prstDash val="solid"/>
          </a:ln>
        </p:spPr>
      </p:sp>
      <p:sp>
        <p:nvSpPr>
          <p:cNvPr id="34" name="Shape 32"/>
          <p:cNvSpPr/>
          <p:nvPr/>
        </p:nvSpPr>
        <p:spPr>
          <a:xfrm>
            <a:off x="8366760" y="4160520"/>
            <a:ext cx="347472" cy="347472"/>
          </a:xfrm>
          <a:prstGeom prst="ellipse">
            <a:avLst/>
          </a:prstGeom>
          <a:solidFill>
            <a:srgbClr val="188038"/>
          </a:solidFill>
          <a:ln w="12700">
            <a:solidFill>
              <a:srgbClr val="188038"/>
            </a:solidFill>
            <a:prstDash val="solid"/>
          </a:ln>
        </p:spPr>
      </p:sp>
      <p:sp>
        <p:nvSpPr>
          <p:cNvPr id="35" name="Text 33"/>
          <p:cNvSpPr/>
          <p:nvPr/>
        </p:nvSpPr>
        <p:spPr>
          <a:xfrm>
            <a:off x="8366760" y="41605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6" name="Text 34"/>
          <p:cNvSpPr/>
          <p:nvPr/>
        </p:nvSpPr>
        <p:spPr>
          <a:xfrm>
            <a:off x="8823960" y="4160520"/>
            <a:ext cx="2651760" cy="347472"/>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Hospital still waiting</a:t>
            </a:r>
            <a:endParaRPr lang="en-US" sz="1400" dirty="0"/>
          </a:p>
        </p:txBody>
      </p:sp>
      <p:sp>
        <p:nvSpPr>
          <p:cNvPr id="37" name="Shape 35"/>
          <p:cNvSpPr/>
          <p:nvPr/>
        </p:nvSpPr>
        <p:spPr>
          <a:xfrm>
            <a:off x="0" y="6656832"/>
            <a:ext cx="12191695" cy="201168"/>
          </a:xfrm>
          <a:prstGeom prst="rect">
            <a:avLst/>
          </a:prstGeom>
          <a:solidFill>
            <a:srgbClr val="EEF1F4"/>
          </a:solidFill>
          <a:ln w="12700">
            <a:solidFill>
              <a:srgbClr val="EEF1F4"/>
            </a:solidFill>
            <a:prstDash val="solid"/>
          </a:ln>
        </p:spPr>
      </p:sp>
      <p:sp>
        <p:nvSpPr>
          <p:cNvPr id="38" name="Text 36"/>
          <p:cNvSpPr/>
          <p:nvPr/>
        </p:nvSpPr>
        <p:spPr>
          <a:xfrm>
            <a:off x="502920" y="6656832"/>
            <a:ext cx="5486400" cy="20116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RapidRoute  ·  RIH-PS-011</a:t>
            </a:r>
            <a:endParaRPr lang="en-US" sz="1000" dirty="0"/>
          </a:p>
        </p:txBody>
      </p:sp>
      <p:sp>
        <p:nvSpPr>
          <p:cNvPr id="39" name="Text 37"/>
          <p:cNvSpPr/>
          <p:nvPr/>
        </p:nvSpPr>
        <p:spPr>
          <a:xfrm>
            <a:off x="11338560" y="6656832"/>
            <a:ext cx="457200" cy="201168"/>
          </a:xfrm>
          <a:prstGeom prst="rect">
            <a:avLst/>
          </a:prstGeom>
          <a:noFill/>
          <a:ln/>
        </p:spPr>
        <p:txBody>
          <a:bodyPr wrap="square" lIns="0" tIns="0" rIns="0" bIns="0" rtlCol="0" anchor="ctr"/>
          <a:lstStyle/>
          <a:p>
            <a:pPr algn="r" indent="0" marL="0">
              <a:buNone/>
            </a:pPr>
            <a:r>
              <a:rPr lang="en-US" sz="1000" dirty="0">
                <a:solidFill>
                  <a:srgbClr val="5F6368"/>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02920" y="201168"/>
            <a:ext cx="7315200" cy="201168"/>
          </a:xfrm>
          <a:prstGeom prst="rect">
            <a:avLst/>
          </a:prstGeom>
          <a:noFill/>
          <a:ln/>
        </p:spPr>
        <p:txBody>
          <a:bodyPr wrap="square" lIns="0" tIns="0" rIns="0" bIns="0" rtlCol="0" anchor="ctr"/>
          <a:lstStyle/>
          <a:p>
            <a:pPr indent="0" marL="0">
              <a:buNone/>
            </a:pPr>
            <a:r>
              <a:rPr lang="en-US" sz="1100" b="1" spc="140" kern="0" dirty="0">
                <a:solidFill>
                  <a:srgbClr val="5F6368"/>
                </a:solidFill>
                <a:latin typeface="Arial" pitchFamily="34" charset="0"/>
                <a:ea typeface="Arial" pitchFamily="34" charset="-122"/>
                <a:cs typeface="Arial" pitchFamily="34" charset="-120"/>
              </a:rPr>
              <a:t>THE PRODUCT</a:t>
            </a:r>
            <a:endParaRPr lang="en-US" sz="1100" dirty="0"/>
          </a:p>
        </p:txBody>
      </p:sp>
      <p:sp>
        <p:nvSpPr>
          <p:cNvPr id="3" name="Text 1"/>
          <p:cNvSpPr/>
          <p:nvPr/>
        </p:nvSpPr>
        <p:spPr>
          <a:xfrm>
            <a:off x="502920" y="438912"/>
            <a:ext cx="11155680" cy="457200"/>
          </a:xfrm>
          <a:prstGeom prst="rect">
            <a:avLst/>
          </a:prstGeom>
          <a:noFill/>
          <a:ln/>
        </p:spPr>
        <p:txBody>
          <a:bodyPr wrap="square" lIns="0" tIns="0" rIns="0" bIns="0" rtlCol="0" anchor="ctr"/>
          <a:lstStyle/>
          <a:p>
            <a:pPr indent="0" marL="0">
              <a:buNone/>
            </a:pPr>
            <a:r>
              <a:rPr lang="en-US" sz="2800" b="1" dirty="0">
                <a:solidFill>
                  <a:srgbClr val="202124"/>
                </a:solidFill>
                <a:latin typeface="Arial" pitchFamily="34" charset="0"/>
                <a:ea typeface="Arial" pitchFamily="34" charset="-122"/>
                <a:cs typeface="Arial" pitchFamily="34" charset="-120"/>
              </a:rPr>
              <a:t>Meet RapidRoute</a:t>
            </a:r>
            <a:endParaRPr lang="en-US" sz="2800" dirty="0"/>
          </a:p>
        </p:txBody>
      </p:sp>
      <p:sp>
        <p:nvSpPr>
          <p:cNvPr id="4" name="Text 2"/>
          <p:cNvSpPr/>
          <p:nvPr/>
        </p:nvSpPr>
        <p:spPr>
          <a:xfrm>
            <a:off x="502920" y="1051560"/>
            <a:ext cx="11155680" cy="32004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Google provides the road alternatives. RapidRoute decides which one should be used.</a:t>
            </a:r>
            <a:endParaRPr lang="en-US" sz="1600" dirty="0"/>
          </a:p>
        </p:txBody>
      </p:sp>
      <p:sp>
        <p:nvSpPr>
          <p:cNvPr id="5" name="Shape 3"/>
          <p:cNvSpPr/>
          <p:nvPr/>
        </p:nvSpPr>
        <p:spPr>
          <a:xfrm>
            <a:off x="502920" y="1554480"/>
            <a:ext cx="11155680" cy="777240"/>
          </a:xfrm>
          <a:prstGeom prst="rect">
            <a:avLst/>
          </a:prstGeom>
          <a:solidFill>
            <a:srgbClr val="FFFFFF"/>
          </a:solidFill>
          <a:ln w="12700">
            <a:solidFill>
              <a:srgbClr val="DADCE0"/>
            </a:solidFill>
            <a:prstDash val="solid"/>
          </a:ln>
        </p:spPr>
      </p:sp>
      <p:sp>
        <p:nvSpPr>
          <p:cNvPr id="6" name="Text 4"/>
          <p:cNvSpPr/>
          <p:nvPr/>
        </p:nvSpPr>
        <p:spPr>
          <a:xfrm>
            <a:off x="685800" y="1645920"/>
            <a:ext cx="10789920" cy="256032"/>
          </a:xfrm>
          <a:prstGeom prst="rect">
            <a:avLst/>
          </a:prstGeom>
          <a:noFill/>
          <a:ln/>
        </p:spPr>
        <p:txBody>
          <a:bodyPr wrap="square" lIns="0" tIns="0" rIns="0" bIns="0" rtlCol="0" anchor="ctr"/>
          <a:lstStyle/>
          <a:p>
            <a:pPr indent="0" marL="0">
              <a:buNone/>
            </a:pPr>
            <a:r>
              <a:rPr lang="en-US" sz="1300" b="1" spc="120" kern="0" dirty="0">
                <a:solidFill>
                  <a:srgbClr val="202124"/>
                </a:solidFill>
                <a:latin typeface="Arial" pitchFamily="34" charset="0"/>
                <a:ea typeface="Arial" pitchFamily="34" charset="-122"/>
                <a:cs typeface="Arial" pitchFamily="34" charset="-120"/>
              </a:rPr>
              <a:t>DISPATCHER</a:t>
            </a:r>
            <a:endParaRPr lang="en-US" sz="1300" dirty="0"/>
          </a:p>
        </p:txBody>
      </p:sp>
      <p:sp>
        <p:nvSpPr>
          <p:cNvPr id="7" name="Text 5"/>
          <p:cNvSpPr/>
          <p:nvPr/>
        </p:nvSpPr>
        <p:spPr>
          <a:xfrm>
            <a:off x="685800" y="1920240"/>
            <a:ext cx="10789920" cy="292608"/>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Creates the incident. Assigns a unit. Starts the journey.</a:t>
            </a:r>
            <a:endParaRPr lang="en-US" sz="1400" dirty="0"/>
          </a:p>
        </p:txBody>
      </p:sp>
      <p:sp>
        <p:nvSpPr>
          <p:cNvPr id="8" name="Shape 6"/>
          <p:cNvSpPr/>
          <p:nvPr/>
        </p:nvSpPr>
        <p:spPr>
          <a:xfrm>
            <a:off x="502920" y="2606040"/>
            <a:ext cx="11155680" cy="2148840"/>
          </a:xfrm>
          <a:prstGeom prst="rect">
            <a:avLst/>
          </a:prstGeom>
          <a:solidFill>
            <a:srgbClr val="FFFFFF"/>
          </a:solidFill>
          <a:ln w="12700">
            <a:solidFill>
              <a:srgbClr val="DADCE0"/>
            </a:solidFill>
            <a:prstDash val="solid"/>
          </a:ln>
        </p:spPr>
      </p:sp>
      <p:sp>
        <p:nvSpPr>
          <p:cNvPr id="9" name="Text 7"/>
          <p:cNvSpPr/>
          <p:nvPr/>
        </p:nvSpPr>
        <p:spPr>
          <a:xfrm>
            <a:off x="685800" y="2697480"/>
            <a:ext cx="10789920" cy="256032"/>
          </a:xfrm>
          <a:prstGeom prst="rect">
            <a:avLst/>
          </a:prstGeom>
          <a:noFill/>
          <a:ln/>
        </p:spPr>
        <p:txBody>
          <a:bodyPr wrap="square" lIns="0" tIns="0" rIns="0" bIns="0" rtlCol="0" anchor="ctr"/>
          <a:lstStyle/>
          <a:p>
            <a:pPr indent="0" marL="0">
              <a:buNone/>
            </a:pPr>
            <a:r>
              <a:rPr lang="en-US" sz="1300" b="1" spc="120" kern="0" dirty="0">
                <a:solidFill>
                  <a:srgbClr val="202124"/>
                </a:solidFill>
                <a:latin typeface="Arial" pitchFamily="34" charset="0"/>
                <a:ea typeface="Arial" pitchFamily="34" charset="-122"/>
                <a:cs typeface="Arial" pitchFamily="34" charset="-120"/>
              </a:rPr>
              <a:t>RAPIDROUTE</a:t>
            </a:r>
            <a:endParaRPr lang="en-US" sz="1300" dirty="0"/>
          </a:p>
        </p:txBody>
      </p:sp>
      <p:sp>
        <p:nvSpPr>
          <p:cNvPr id="10" name="Shape 8"/>
          <p:cNvSpPr/>
          <p:nvPr/>
        </p:nvSpPr>
        <p:spPr>
          <a:xfrm>
            <a:off x="502920" y="5074920"/>
            <a:ext cx="11155680" cy="777240"/>
          </a:xfrm>
          <a:prstGeom prst="rect">
            <a:avLst/>
          </a:prstGeom>
          <a:solidFill>
            <a:srgbClr val="FFFFFF"/>
          </a:solidFill>
          <a:ln w="12700">
            <a:solidFill>
              <a:srgbClr val="DADCE0"/>
            </a:solidFill>
            <a:prstDash val="solid"/>
          </a:ln>
        </p:spPr>
      </p:sp>
      <p:sp>
        <p:nvSpPr>
          <p:cNvPr id="11" name="Text 9"/>
          <p:cNvSpPr/>
          <p:nvPr/>
        </p:nvSpPr>
        <p:spPr>
          <a:xfrm>
            <a:off x="685800" y="5166360"/>
            <a:ext cx="10789920" cy="256032"/>
          </a:xfrm>
          <a:prstGeom prst="rect">
            <a:avLst/>
          </a:prstGeom>
          <a:noFill/>
          <a:ln/>
        </p:spPr>
        <p:txBody>
          <a:bodyPr wrap="square" lIns="0" tIns="0" rIns="0" bIns="0" rtlCol="0" anchor="ctr"/>
          <a:lstStyle/>
          <a:p>
            <a:pPr indent="0" marL="0">
              <a:buNone/>
            </a:pPr>
            <a:r>
              <a:rPr lang="en-US" sz="1300" b="1" spc="120" kern="0" dirty="0">
                <a:solidFill>
                  <a:srgbClr val="202124"/>
                </a:solidFill>
                <a:latin typeface="Arial" pitchFamily="34" charset="0"/>
                <a:ea typeface="Arial" pitchFamily="34" charset="-122"/>
                <a:cs typeface="Arial" pitchFamily="34" charset="-120"/>
              </a:rPr>
              <a:t>GOOGLE ROUTES</a:t>
            </a:r>
            <a:endParaRPr lang="en-US" sz="1300" dirty="0"/>
          </a:p>
        </p:txBody>
      </p:sp>
      <p:sp>
        <p:nvSpPr>
          <p:cNvPr id="12" name="Text 10"/>
          <p:cNvSpPr/>
          <p:nvPr/>
        </p:nvSpPr>
        <p:spPr>
          <a:xfrm>
            <a:off x="685800" y="5440680"/>
            <a:ext cx="10789920" cy="292608"/>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Real geometry, ETA, alternatives, traffic-aware times.</a:t>
            </a:r>
            <a:endParaRPr lang="en-US" sz="1400" dirty="0"/>
          </a:p>
        </p:txBody>
      </p:sp>
      <p:sp>
        <p:nvSpPr>
          <p:cNvPr id="13" name="Shape 11"/>
          <p:cNvSpPr/>
          <p:nvPr/>
        </p:nvSpPr>
        <p:spPr>
          <a:xfrm>
            <a:off x="685800" y="3017520"/>
            <a:ext cx="1737360" cy="1508760"/>
          </a:xfrm>
          <a:prstGeom prst="rect">
            <a:avLst/>
          </a:prstGeom>
          <a:solidFill>
            <a:srgbClr val="FFFFFF"/>
          </a:solidFill>
          <a:ln w="12700">
            <a:solidFill>
              <a:srgbClr val="5F6368"/>
            </a:solidFill>
            <a:prstDash val="solid"/>
          </a:ln>
        </p:spPr>
      </p:sp>
      <p:sp>
        <p:nvSpPr>
          <p:cNvPr id="14" name="Text 12"/>
          <p:cNvSpPr/>
          <p:nvPr/>
        </p:nvSpPr>
        <p:spPr>
          <a:xfrm>
            <a:off x="758952" y="3273552"/>
            <a:ext cx="1591056" cy="640080"/>
          </a:xfrm>
          <a:prstGeom prst="rect">
            <a:avLst/>
          </a:prstGeom>
          <a:noFill/>
          <a:ln/>
        </p:spPr>
        <p:txBody>
          <a:bodyPr wrap="square" lIns="0" tIns="0" rIns="0" bIns="0" rtlCol="0" anchor="ctr"/>
          <a:lstStyle/>
          <a:p>
            <a:pPr indent="0" marL="0">
              <a:buNone/>
            </a:pPr>
            <a:r>
              <a:rPr lang="en-US" sz="1300" b="1" dirty="0">
                <a:solidFill>
                  <a:srgbClr val="202124"/>
                </a:solidFill>
                <a:latin typeface="Arial" pitchFamily="34" charset="0"/>
                <a:ea typeface="Arial" pitchFamily="34" charset="-122"/>
                <a:cs typeface="Arial" pitchFamily="34" charset="-120"/>
              </a:rPr>
              <a:t>Unit assignment</a:t>
            </a:r>
            <a:endParaRPr lang="en-US" sz="1300" dirty="0"/>
          </a:p>
        </p:txBody>
      </p:sp>
      <p:sp>
        <p:nvSpPr>
          <p:cNvPr id="15" name="Text 13"/>
          <p:cNvSpPr/>
          <p:nvPr/>
        </p:nvSpPr>
        <p:spPr>
          <a:xfrm>
            <a:off x="758952" y="3931920"/>
            <a:ext cx="1591056" cy="457200"/>
          </a:xfrm>
          <a:prstGeom prst="rect">
            <a:avLst/>
          </a:prstGeom>
          <a:noFill/>
          <a:ln/>
        </p:spPr>
        <p:txBody>
          <a:bodyPr wrap="square" lIns="0" tIns="0" rIns="0" bIns="0" rtlCol="0" anchor="ctr"/>
          <a:lstStyle/>
          <a:p>
            <a:pPr indent="0" marL="0">
              <a:buNone/>
            </a:pPr>
            <a:r>
              <a:rPr lang="en-US" sz="1100" dirty="0">
                <a:solidFill>
                  <a:srgbClr val="5F6368"/>
                </a:solidFill>
                <a:latin typeface="Arial" pitchFamily="34" charset="0"/>
                <a:ea typeface="Arial" pitchFamily="34" charset="-122"/>
                <a:cs typeface="Arial" pitchFamily="34" charset="-120"/>
              </a:rPr>
              <a:t>Free, compatible ambulance</a:t>
            </a:r>
            <a:endParaRPr lang="en-US" sz="1100" dirty="0"/>
          </a:p>
        </p:txBody>
      </p:sp>
      <p:sp>
        <p:nvSpPr>
          <p:cNvPr id="16" name="Shape 14"/>
          <p:cNvSpPr/>
          <p:nvPr/>
        </p:nvSpPr>
        <p:spPr>
          <a:xfrm>
            <a:off x="2514600" y="3017520"/>
            <a:ext cx="1737360" cy="1508760"/>
          </a:xfrm>
          <a:prstGeom prst="rect">
            <a:avLst/>
          </a:prstGeom>
          <a:solidFill>
            <a:srgbClr val="FFFFFF"/>
          </a:solidFill>
          <a:ln w="12700">
            <a:solidFill>
              <a:srgbClr val="5F6368"/>
            </a:solidFill>
            <a:prstDash val="solid"/>
          </a:ln>
        </p:spPr>
      </p:sp>
      <p:sp>
        <p:nvSpPr>
          <p:cNvPr id="17" name="Text 15"/>
          <p:cNvSpPr/>
          <p:nvPr/>
        </p:nvSpPr>
        <p:spPr>
          <a:xfrm>
            <a:off x="2587752" y="3273552"/>
            <a:ext cx="1591056" cy="640080"/>
          </a:xfrm>
          <a:prstGeom prst="rect">
            <a:avLst/>
          </a:prstGeom>
          <a:noFill/>
          <a:ln/>
        </p:spPr>
        <p:txBody>
          <a:bodyPr wrap="square" lIns="0" tIns="0" rIns="0" bIns="0" rtlCol="0" anchor="ctr"/>
          <a:lstStyle/>
          <a:p>
            <a:pPr indent="0" marL="0">
              <a:buNone/>
            </a:pPr>
            <a:r>
              <a:rPr lang="en-US" sz="1300" b="1" dirty="0">
                <a:solidFill>
                  <a:srgbClr val="202124"/>
                </a:solidFill>
                <a:latin typeface="Arial" pitchFamily="34" charset="0"/>
                <a:ea typeface="Arial" pitchFamily="34" charset="-122"/>
                <a:cs typeface="Arial" pitchFamily="34" charset="-120"/>
              </a:rPr>
              <a:t>Route scoring</a:t>
            </a:r>
            <a:endParaRPr lang="en-US" sz="1300" dirty="0"/>
          </a:p>
        </p:txBody>
      </p:sp>
      <p:sp>
        <p:nvSpPr>
          <p:cNvPr id="18" name="Text 16"/>
          <p:cNvSpPr/>
          <p:nvPr/>
        </p:nvSpPr>
        <p:spPr>
          <a:xfrm>
            <a:off x="2587752" y="3931920"/>
            <a:ext cx="1591056" cy="457200"/>
          </a:xfrm>
          <a:prstGeom prst="rect">
            <a:avLst/>
          </a:prstGeom>
          <a:noFill/>
          <a:ln/>
        </p:spPr>
        <p:txBody>
          <a:bodyPr wrap="square" lIns="0" tIns="0" rIns="0" bIns="0" rtlCol="0" anchor="ctr"/>
          <a:lstStyle/>
          <a:p>
            <a:pPr indent="0" marL="0">
              <a:buNone/>
            </a:pPr>
            <a:r>
              <a:rPr lang="en-US" sz="1100" dirty="0">
                <a:solidFill>
                  <a:srgbClr val="5F6368"/>
                </a:solidFill>
                <a:latin typeface="Arial" pitchFamily="34" charset="0"/>
                <a:ea typeface="Arial" pitchFamily="34" charset="-122"/>
                <a:cs typeface="Arial" pitchFamily="34" charset="-120"/>
              </a:rPr>
              <a:t>ETA, distance, traffic, road</a:t>
            </a:r>
            <a:endParaRPr lang="en-US" sz="1100" dirty="0"/>
          </a:p>
        </p:txBody>
      </p:sp>
      <p:sp>
        <p:nvSpPr>
          <p:cNvPr id="19" name="Shape 17"/>
          <p:cNvSpPr/>
          <p:nvPr/>
        </p:nvSpPr>
        <p:spPr>
          <a:xfrm>
            <a:off x="4343400" y="3017520"/>
            <a:ext cx="1737360" cy="1508760"/>
          </a:xfrm>
          <a:prstGeom prst="rect">
            <a:avLst/>
          </a:prstGeom>
          <a:solidFill>
            <a:srgbClr val="FFFFFF"/>
          </a:solidFill>
          <a:ln w="12700">
            <a:solidFill>
              <a:srgbClr val="5F6368"/>
            </a:solidFill>
            <a:prstDash val="solid"/>
          </a:ln>
        </p:spPr>
      </p:sp>
      <p:sp>
        <p:nvSpPr>
          <p:cNvPr id="20" name="Text 18"/>
          <p:cNvSpPr/>
          <p:nvPr/>
        </p:nvSpPr>
        <p:spPr>
          <a:xfrm>
            <a:off x="4416552" y="3273552"/>
            <a:ext cx="1591056" cy="640080"/>
          </a:xfrm>
          <a:prstGeom prst="rect">
            <a:avLst/>
          </a:prstGeom>
          <a:noFill/>
          <a:ln/>
        </p:spPr>
        <p:txBody>
          <a:bodyPr wrap="square" lIns="0" tIns="0" rIns="0" bIns="0" rtlCol="0" anchor="ctr"/>
          <a:lstStyle/>
          <a:p>
            <a:pPr indent="0" marL="0">
              <a:buNone/>
            </a:pPr>
            <a:r>
              <a:rPr lang="en-US" sz="1300" b="1" dirty="0">
                <a:solidFill>
                  <a:srgbClr val="202124"/>
                </a:solidFill>
                <a:latin typeface="Arial" pitchFamily="34" charset="0"/>
                <a:ea typeface="Arial" pitchFamily="34" charset="-122"/>
                <a:cs typeface="Arial" pitchFamily="34" charset="-120"/>
              </a:rPr>
              <a:t>Road status</a:t>
            </a:r>
            <a:endParaRPr lang="en-US" sz="1300" dirty="0"/>
          </a:p>
        </p:txBody>
      </p:sp>
      <p:sp>
        <p:nvSpPr>
          <p:cNvPr id="21" name="Text 19"/>
          <p:cNvSpPr/>
          <p:nvPr/>
        </p:nvSpPr>
        <p:spPr>
          <a:xfrm>
            <a:off x="4416552" y="3931920"/>
            <a:ext cx="1591056" cy="457200"/>
          </a:xfrm>
          <a:prstGeom prst="rect">
            <a:avLst/>
          </a:prstGeom>
          <a:noFill/>
          <a:ln/>
        </p:spPr>
        <p:txBody>
          <a:bodyPr wrap="square" lIns="0" tIns="0" rIns="0" bIns="0" rtlCol="0" anchor="ctr"/>
          <a:lstStyle/>
          <a:p>
            <a:pPr indent="0" marL="0">
              <a:buNone/>
            </a:pPr>
            <a:r>
              <a:rPr lang="en-US" sz="1100" dirty="0">
                <a:solidFill>
                  <a:srgbClr val="5F6368"/>
                </a:solidFill>
                <a:latin typeface="Arial" pitchFamily="34" charset="0"/>
                <a:ea typeface="Arial" pitchFamily="34" charset="-122"/>
                <a:cs typeface="Arial" pitchFamily="34" charset="-120"/>
              </a:rPr>
              <a:t>Clear, congested, blocked</a:t>
            </a:r>
            <a:endParaRPr lang="en-US" sz="1100" dirty="0"/>
          </a:p>
        </p:txBody>
      </p:sp>
      <p:sp>
        <p:nvSpPr>
          <p:cNvPr id="22" name="Shape 20"/>
          <p:cNvSpPr/>
          <p:nvPr/>
        </p:nvSpPr>
        <p:spPr>
          <a:xfrm>
            <a:off x="6172200" y="3017520"/>
            <a:ext cx="1737360" cy="1508760"/>
          </a:xfrm>
          <a:prstGeom prst="rect">
            <a:avLst/>
          </a:prstGeom>
          <a:solidFill>
            <a:srgbClr val="FFFFFF"/>
          </a:solidFill>
          <a:ln w="12700">
            <a:solidFill>
              <a:srgbClr val="5F6368"/>
            </a:solidFill>
            <a:prstDash val="solid"/>
          </a:ln>
        </p:spPr>
      </p:sp>
      <p:sp>
        <p:nvSpPr>
          <p:cNvPr id="23" name="Text 21"/>
          <p:cNvSpPr/>
          <p:nvPr/>
        </p:nvSpPr>
        <p:spPr>
          <a:xfrm>
            <a:off x="6245352" y="3273552"/>
            <a:ext cx="1591056" cy="640080"/>
          </a:xfrm>
          <a:prstGeom prst="rect">
            <a:avLst/>
          </a:prstGeom>
          <a:noFill/>
          <a:ln/>
        </p:spPr>
        <p:txBody>
          <a:bodyPr wrap="square" lIns="0" tIns="0" rIns="0" bIns="0" rtlCol="0" anchor="ctr"/>
          <a:lstStyle/>
          <a:p>
            <a:pPr indent="0" marL="0">
              <a:buNone/>
            </a:pPr>
            <a:r>
              <a:rPr lang="en-US" sz="1300" b="1" dirty="0">
                <a:solidFill>
                  <a:srgbClr val="202124"/>
                </a:solidFill>
                <a:latin typeface="Arial" pitchFamily="34" charset="0"/>
                <a:ea typeface="Arial" pitchFamily="34" charset="-122"/>
                <a:cs typeface="Arial" pitchFamily="34" charset="-120"/>
              </a:rPr>
              <a:t>Priority weights</a:t>
            </a:r>
            <a:endParaRPr lang="en-US" sz="1300" dirty="0"/>
          </a:p>
        </p:txBody>
      </p:sp>
      <p:sp>
        <p:nvSpPr>
          <p:cNvPr id="24" name="Text 22"/>
          <p:cNvSpPr/>
          <p:nvPr/>
        </p:nvSpPr>
        <p:spPr>
          <a:xfrm>
            <a:off x="6245352" y="3931920"/>
            <a:ext cx="1591056" cy="457200"/>
          </a:xfrm>
          <a:prstGeom prst="rect">
            <a:avLst/>
          </a:prstGeom>
          <a:noFill/>
          <a:ln/>
        </p:spPr>
        <p:txBody>
          <a:bodyPr wrap="square" lIns="0" tIns="0" rIns="0" bIns="0" rtlCol="0" anchor="ctr"/>
          <a:lstStyle/>
          <a:p>
            <a:pPr indent="0" marL="0">
              <a:buNone/>
            </a:pPr>
            <a:r>
              <a:rPr lang="en-US" sz="1100" dirty="0">
                <a:solidFill>
                  <a:srgbClr val="5F6368"/>
                </a:solidFill>
                <a:latin typeface="Arial" pitchFamily="34" charset="0"/>
                <a:ea typeface="Arial" pitchFamily="34" charset="-122"/>
                <a:cs typeface="Arial" pitchFamily="34" charset="-120"/>
              </a:rPr>
              <a:t>Critical favours time</a:t>
            </a:r>
            <a:endParaRPr lang="en-US" sz="1100" dirty="0"/>
          </a:p>
        </p:txBody>
      </p:sp>
      <p:sp>
        <p:nvSpPr>
          <p:cNvPr id="25" name="Shape 23"/>
          <p:cNvSpPr/>
          <p:nvPr/>
        </p:nvSpPr>
        <p:spPr>
          <a:xfrm>
            <a:off x="8001000" y="3017520"/>
            <a:ext cx="1737360" cy="1508760"/>
          </a:xfrm>
          <a:prstGeom prst="rect">
            <a:avLst/>
          </a:prstGeom>
          <a:solidFill>
            <a:srgbClr val="FFFFFF"/>
          </a:solidFill>
          <a:ln w="12700">
            <a:solidFill>
              <a:srgbClr val="5F6368"/>
            </a:solidFill>
            <a:prstDash val="solid"/>
          </a:ln>
        </p:spPr>
      </p:sp>
      <p:sp>
        <p:nvSpPr>
          <p:cNvPr id="26" name="Text 24"/>
          <p:cNvSpPr/>
          <p:nvPr/>
        </p:nvSpPr>
        <p:spPr>
          <a:xfrm>
            <a:off x="8074152" y="3273552"/>
            <a:ext cx="1591056" cy="640080"/>
          </a:xfrm>
          <a:prstGeom prst="rect">
            <a:avLst/>
          </a:prstGeom>
          <a:noFill/>
          <a:ln/>
        </p:spPr>
        <p:txBody>
          <a:bodyPr wrap="square" lIns="0" tIns="0" rIns="0" bIns="0" rtlCol="0" anchor="ctr"/>
          <a:lstStyle/>
          <a:p>
            <a:pPr indent="0" marL="0">
              <a:buNone/>
            </a:pPr>
            <a:r>
              <a:rPr lang="en-US" sz="1300" b="1" dirty="0">
                <a:solidFill>
                  <a:srgbClr val="202124"/>
                </a:solidFill>
                <a:latin typeface="Arial" pitchFamily="34" charset="0"/>
                <a:ea typeface="Arial" pitchFamily="34" charset="-122"/>
                <a:cs typeface="Arial" pitchFamily="34" charset="-120"/>
              </a:rPr>
              <a:t>Rerouting</a:t>
            </a:r>
            <a:endParaRPr lang="en-US" sz="1300" dirty="0"/>
          </a:p>
        </p:txBody>
      </p:sp>
      <p:sp>
        <p:nvSpPr>
          <p:cNvPr id="27" name="Text 25"/>
          <p:cNvSpPr/>
          <p:nvPr/>
        </p:nvSpPr>
        <p:spPr>
          <a:xfrm>
            <a:off x="8074152" y="3931920"/>
            <a:ext cx="1591056" cy="457200"/>
          </a:xfrm>
          <a:prstGeom prst="rect">
            <a:avLst/>
          </a:prstGeom>
          <a:noFill/>
          <a:ln/>
        </p:spPr>
        <p:txBody>
          <a:bodyPr wrap="square" lIns="0" tIns="0" rIns="0" bIns="0" rtlCol="0" anchor="ctr"/>
          <a:lstStyle/>
          <a:p>
            <a:pPr indent="0" marL="0">
              <a:buNone/>
            </a:pPr>
            <a:r>
              <a:rPr lang="en-US" sz="1100" dirty="0">
                <a:solidFill>
                  <a:srgbClr val="5F6368"/>
                </a:solidFill>
                <a:latin typeface="Arial" pitchFamily="34" charset="0"/>
                <a:ea typeface="Arial" pitchFamily="34" charset="-122"/>
                <a:cs typeface="Arial" pitchFamily="34" charset="-120"/>
              </a:rPr>
              <a:t>Only if it actually helps</a:t>
            </a:r>
            <a:endParaRPr lang="en-US" sz="1100" dirty="0"/>
          </a:p>
        </p:txBody>
      </p:sp>
      <p:sp>
        <p:nvSpPr>
          <p:cNvPr id="28" name="Shape 26"/>
          <p:cNvSpPr/>
          <p:nvPr/>
        </p:nvSpPr>
        <p:spPr>
          <a:xfrm>
            <a:off x="9829800" y="3017520"/>
            <a:ext cx="1737360" cy="1508760"/>
          </a:xfrm>
          <a:prstGeom prst="rect">
            <a:avLst/>
          </a:prstGeom>
          <a:solidFill>
            <a:srgbClr val="FFFFFF"/>
          </a:solidFill>
          <a:ln w="12700">
            <a:solidFill>
              <a:srgbClr val="5F6368"/>
            </a:solidFill>
            <a:prstDash val="solid"/>
          </a:ln>
        </p:spPr>
      </p:sp>
      <p:sp>
        <p:nvSpPr>
          <p:cNvPr id="29" name="Text 27"/>
          <p:cNvSpPr/>
          <p:nvPr/>
        </p:nvSpPr>
        <p:spPr>
          <a:xfrm>
            <a:off x="9902952" y="3273552"/>
            <a:ext cx="1591056" cy="640080"/>
          </a:xfrm>
          <a:prstGeom prst="rect">
            <a:avLst/>
          </a:prstGeom>
          <a:noFill/>
          <a:ln/>
        </p:spPr>
        <p:txBody>
          <a:bodyPr wrap="square" lIns="0" tIns="0" rIns="0" bIns="0" rtlCol="0" anchor="ctr"/>
          <a:lstStyle/>
          <a:p>
            <a:pPr indent="0" marL="0">
              <a:buNone/>
            </a:pPr>
            <a:r>
              <a:rPr lang="en-US" sz="1300" b="1" dirty="0">
                <a:solidFill>
                  <a:srgbClr val="202124"/>
                </a:solidFill>
                <a:latin typeface="Arial" pitchFamily="34" charset="0"/>
                <a:ea typeface="Arial" pitchFamily="34" charset="-122"/>
                <a:cs typeface="Arial" pitchFamily="34" charset="-120"/>
              </a:rPr>
              <a:t>Decision log</a:t>
            </a:r>
            <a:endParaRPr lang="en-US" sz="1300" dirty="0"/>
          </a:p>
        </p:txBody>
      </p:sp>
      <p:sp>
        <p:nvSpPr>
          <p:cNvPr id="30" name="Text 28"/>
          <p:cNvSpPr/>
          <p:nvPr/>
        </p:nvSpPr>
        <p:spPr>
          <a:xfrm>
            <a:off x="9902952" y="3931920"/>
            <a:ext cx="1591056" cy="457200"/>
          </a:xfrm>
          <a:prstGeom prst="rect">
            <a:avLst/>
          </a:prstGeom>
          <a:noFill/>
          <a:ln/>
        </p:spPr>
        <p:txBody>
          <a:bodyPr wrap="square" lIns="0" tIns="0" rIns="0" bIns="0" rtlCol="0" anchor="ctr"/>
          <a:lstStyle/>
          <a:p>
            <a:pPr indent="0" marL="0">
              <a:buNone/>
            </a:pPr>
            <a:r>
              <a:rPr lang="en-US" sz="1100" dirty="0">
                <a:solidFill>
                  <a:srgbClr val="5F6368"/>
                </a:solidFill>
                <a:latin typeface="Arial" pitchFamily="34" charset="0"/>
                <a:ea typeface="Arial" pitchFamily="34" charset="-122"/>
                <a:cs typeface="Arial" pitchFamily="34" charset="-120"/>
              </a:rPr>
              <a:t>Why this route</a:t>
            </a:r>
            <a:endParaRPr lang="en-US" sz="1100" dirty="0"/>
          </a:p>
        </p:txBody>
      </p:sp>
      <p:sp>
        <p:nvSpPr>
          <p:cNvPr id="31" name="Shape 29"/>
          <p:cNvSpPr/>
          <p:nvPr/>
        </p:nvSpPr>
        <p:spPr>
          <a:xfrm>
            <a:off x="0" y="6656832"/>
            <a:ext cx="12191695" cy="201168"/>
          </a:xfrm>
          <a:prstGeom prst="rect">
            <a:avLst/>
          </a:prstGeom>
          <a:solidFill>
            <a:srgbClr val="EEF1F4"/>
          </a:solidFill>
          <a:ln w="12700">
            <a:solidFill>
              <a:srgbClr val="EEF1F4"/>
            </a:solidFill>
            <a:prstDash val="solid"/>
          </a:ln>
        </p:spPr>
      </p:sp>
      <p:sp>
        <p:nvSpPr>
          <p:cNvPr id="32" name="Text 30"/>
          <p:cNvSpPr/>
          <p:nvPr/>
        </p:nvSpPr>
        <p:spPr>
          <a:xfrm>
            <a:off x="502920" y="6656832"/>
            <a:ext cx="5486400" cy="20116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RapidRoute  ·  RIH-PS-011</a:t>
            </a:r>
            <a:endParaRPr lang="en-US" sz="1000" dirty="0"/>
          </a:p>
        </p:txBody>
      </p:sp>
      <p:sp>
        <p:nvSpPr>
          <p:cNvPr id="33" name="Text 31"/>
          <p:cNvSpPr/>
          <p:nvPr/>
        </p:nvSpPr>
        <p:spPr>
          <a:xfrm>
            <a:off x="11338560" y="6656832"/>
            <a:ext cx="457200" cy="201168"/>
          </a:xfrm>
          <a:prstGeom prst="rect">
            <a:avLst/>
          </a:prstGeom>
          <a:noFill/>
          <a:ln/>
        </p:spPr>
        <p:txBody>
          <a:bodyPr wrap="square" lIns="0" tIns="0" rIns="0" bIns="0" rtlCol="0" anchor="ctr"/>
          <a:lstStyle/>
          <a:p>
            <a:pPr algn="r" indent="0" marL="0">
              <a:buNone/>
            </a:pPr>
            <a:r>
              <a:rPr lang="en-US" sz="1000" dirty="0">
                <a:solidFill>
                  <a:srgbClr val="5F6368"/>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02920" y="201168"/>
            <a:ext cx="7315200" cy="201168"/>
          </a:xfrm>
          <a:prstGeom prst="rect">
            <a:avLst/>
          </a:prstGeom>
          <a:noFill/>
          <a:ln/>
        </p:spPr>
        <p:txBody>
          <a:bodyPr wrap="square" lIns="0" tIns="0" rIns="0" bIns="0" rtlCol="0" anchor="ctr"/>
          <a:lstStyle/>
          <a:p>
            <a:pPr indent="0" marL="0">
              <a:buNone/>
            </a:pPr>
            <a:r>
              <a:rPr lang="en-US" sz="1100" b="1" spc="140" kern="0" dirty="0">
                <a:solidFill>
                  <a:srgbClr val="5F6368"/>
                </a:solidFill>
                <a:latin typeface="Arial" pitchFamily="34" charset="0"/>
                <a:ea typeface="Arial" pitchFamily="34" charset="-122"/>
                <a:cs typeface="Arial" pitchFamily="34" charset="-120"/>
              </a:rPr>
              <a:t>THE QUESTION JUDGES ASK</a:t>
            </a:r>
            <a:endParaRPr lang="en-US" sz="1100" dirty="0"/>
          </a:p>
        </p:txBody>
      </p:sp>
      <p:sp>
        <p:nvSpPr>
          <p:cNvPr id="3" name="Text 1"/>
          <p:cNvSpPr/>
          <p:nvPr/>
        </p:nvSpPr>
        <p:spPr>
          <a:xfrm>
            <a:off x="502920" y="438912"/>
            <a:ext cx="11155680" cy="457200"/>
          </a:xfrm>
          <a:prstGeom prst="rect">
            <a:avLst/>
          </a:prstGeom>
          <a:noFill/>
          <a:ln/>
        </p:spPr>
        <p:txBody>
          <a:bodyPr wrap="square" lIns="0" tIns="0" rIns="0" bIns="0" rtlCol="0" anchor="ctr"/>
          <a:lstStyle/>
          <a:p>
            <a:pPr indent="0" marL="0">
              <a:buNone/>
            </a:pPr>
            <a:r>
              <a:rPr lang="en-US" sz="2800" b="1" dirty="0">
                <a:solidFill>
                  <a:srgbClr val="202124"/>
                </a:solidFill>
                <a:latin typeface="Arial" pitchFamily="34" charset="0"/>
                <a:ea typeface="Arial" pitchFamily="34" charset="-122"/>
                <a:cs typeface="Arial" pitchFamily="34" charset="-120"/>
              </a:rPr>
              <a:t>Google gives us routes. We make the decision.</a:t>
            </a:r>
            <a:endParaRPr lang="en-US" sz="2800" dirty="0"/>
          </a:p>
        </p:txBody>
      </p:sp>
      <p:sp>
        <p:nvSpPr>
          <p:cNvPr id="4" name="Shape 2"/>
          <p:cNvSpPr/>
          <p:nvPr/>
        </p:nvSpPr>
        <p:spPr>
          <a:xfrm>
            <a:off x="502920" y="1188720"/>
            <a:ext cx="5486400" cy="5074920"/>
          </a:xfrm>
          <a:prstGeom prst="rect">
            <a:avLst/>
          </a:prstGeom>
          <a:solidFill>
            <a:srgbClr val="FFFFFF"/>
          </a:solidFill>
          <a:ln w="12700">
            <a:solidFill>
              <a:srgbClr val="DADCE0"/>
            </a:solidFill>
            <a:prstDash val="solid"/>
          </a:ln>
        </p:spPr>
      </p:sp>
      <p:sp>
        <p:nvSpPr>
          <p:cNvPr id="5" name="Shape 3"/>
          <p:cNvSpPr/>
          <p:nvPr/>
        </p:nvSpPr>
        <p:spPr>
          <a:xfrm>
            <a:off x="502920" y="1188720"/>
            <a:ext cx="5486400" cy="502920"/>
          </a:xfrm>
          <a:prstGeom prst="rect">
            <a:avLst/>
          </a:prstGeom>
          <a:solidFill>
            <a:srgbClr val="1A73E8"/>
          </a:solidFill>
          <a:ln w="12700">
            <a:solidFill>
              <a:srgbClr val="1A73E8"/>
            </a:solidFill>
            <a:prstDash val="solid"/>
          </a:ln>
        </p:spPr>
      </p:sp>
      <p:sp>
        <p:nvSpPr>
          <p:cNvPr id="6" name="Text 4"/>
          <p:cNvSpPr/>
          <p:nvPr/>
        </p:nvSpPr>
        <p:spPr>
          <a:xfrm>
            <a:off x="685800" y="1280160"/>
            <a:ext cx="512064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GOOGLE</a:t>
            </a:r>
            <a:endParaRPr lang="en-US" sz="1600" dirty="0"/>
          </a:p>
        </p:txBody>
      </p:sp>
      <p:sp>
        <p:nvSpPr>
          <p:cNvPr id="7" name="Text 5"/>
          <p:cNvSpPr/>
          <p:nvPr/>
        </p:nvSpPr>
        <p:spPr>
          <a:xfrm>
            <a:off x="777240" y="1920240"/>
            <a:ext cx="4937760" cy="45720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Map tiles the operator sees</a:t>
            </a:r>
            <a:endParaRPr lang="en-US" sz="1600" dirty="0"/>
          </a:p>
        </p:txBody>
      </p:sp>
      <p:sp>
        <p:nvSpPr>
          <p:cNvPr id="8" name="Text 6"/>
          <p:cNvSpPr/>
          <p:nvPr/>
        </p:nvSpPr>
        <p:spPr>
          <a:xfrm>
            <a:off x="777240" y="2578608"/>
            <a:ext cx="4937760" cy="45720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Real road geometry (the line)</a:t>
            </a:r>
            <a:endParaRPr lang="en-US" sz="1600" dirty="0"/>
          </a:p>
        </p:txBody>
      </p:sp>
      <p:sp>
        <p:nvSpPr>
          <p:cNvPr id="9" name="Text 7"/>
          <p:cNvSpPr/>
          <p:nvPr/>
        </p:nvSpPr>
        <p:spPr>
          <a:xfrm>
            <a:off x="777240" y="3236976"/>
            <a:ext cx="4937760" cy="45720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Travel time (ETA)</a:t>
            </a:r>
            <a:endParaRPr lang="en-US" sz="1600" dirty="0"/>
          </a:p>
        </p:txBody>
      </p:sp>
      <p:sp>
        <p:nvSpPr>
          <p:cNvPr id="10" name="Text 8"/>
          <p:cNvSpPr/>
          <p:nvPr/>
        </p:nvSpPr>
        <p:spPr>
          <a:xfrm>
            <a:off x="777240" y="3895344"/>
            <a:ext cx="4937760" cy="45720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Alternative routes</a:t>
            </a:r>
            <a:endParaRPr lang="en-US" sz="1600" dirty="0"/>
          </a:p>
        </p:txBody>
      </p:sp>
      <p:sp>
        <p:nvSpPr>
          <p:cNvPr id="11" name="Text 9"/>
          <p:cNvSpPr/>
          <p:nvPr/>
        </p:nvSpPr>
        <p:spPr>
          <a:xfrm>
            <a:off x="777240" y="4553712"/>
            <a:ext cx="4937760" cy="45720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Traffic-aware times when configured</a:t>
            </a:r>
            <a:endParaRPr lang="en-US" sz="1600" dirty="0"/>
          </a:p>
        </p:txBody>
      </p:sp>
      <p:sp>
        <p:nvSpPr>
          <p:cNvPr id="12" name="Shape 10"/>
          <p:cNvSpPr/>
          <p:nvPr/>
        </p:nvSpPr>
        <p:spPr>
          <a:xfrm>
            <a:off x="6217920" y="1188720"/>
            <a:ext cx="5486400" cy="5074920"/>
          </a:xfrm>
          <a:prstGeom prst="rect">
            <a:avLst/>
          </a:prstGeom>
          <a:solidFill>
            <a:srgbClr val="FFFFFF"/>
          </a:solidFill>
          <a:ln w="12700">
            <a:solidFill>
              <a:srgbClr val="DADCE0"/>
            </a:solidFill>
            <a:prstDash val="solid"/>
          </a:ln>
        </p:spPr>
      </p:sp>
      <p:sp>
        <p:nvSpPr>
          <p:cNvPr id="13" name="Shape 11"/>
          <p:cNvSpPr/>
          <p:nvPr/>
        </p:nvSpPr>
        <p:spPr>
          <a:xfrm>
            <a:off x="6217920" y="1188720"/>
            <a:ext cx="5486400" cy="502920"/>
          </a:xfrm>
          <a:prstGeom prst="rect">
            <a:avLst/>
          </a:prstGeom>
          <a:solidFill>
            <a:srgbClr val="202124"/>
          </a:solidFill>
          <a:ln w="12700">
            <a:solidFill>
              <a:srgbClr val="202124"/>
            </a:solidFill>
            <a:prstDash val="solid"/>
          </a:ln>
        </p:spPr>
      </p:sp>
      <p:sp>
        <p:nvSpPr>
          <p:cNvPr id="14" name="Text 12"/>
          <p:cNvSpPr/>
          <p:nvPr/>
        </p:nvSpPr>
        <p:spPr>
          <a:xfrm>
            <a:off x="6400800" y="1280160"/>
            <a:ext cx="512064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RAPIDROUTE</a:t>
            </a:r>
            <a:endParaRPr lang="en-US" sz="1600" dirty="0"/>
          </a:p>
        </p:txBody>
      </p:sp>
      <p:sp>
        <p:nvSpPr>
          <p:cNvPr id="15" name="Text 13"/>
          <p:cNvSpPr/>
          <p:nvPr/>
        </p:nvSpPr>
        <p:spPr>
          <a:xfrm>
            <a:off x="6492240" y="1920240"/>
            <a:ext cx="4937760" cy="45720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Login roles: dispatcher and admin</a:t>
            </a:r>
            <a:endParaRPr lang="en-US" sz="1600" dirty="0"/>
          </a:p>
        </p:txBody>
      </p:sp>
      <p:sp>
        <p:nvSpPr>
          <p:cNvPr id="16" name="Text 14"/>
          <p:cNvSpPr/>
          <p:nvPr/>
        </p:nvSpPr>
        <p:spPr>
          <a:xfrm>
            <a:off x="6492240" y="2578608"/>
            <a:ext cx="4937760" cy="45720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Which ambulance is free and compatible</a:t>
            </a:r>
            <a:endParaRPr lang="en-US" sz="1600" dirty="0"/>
          </a:p>
        </p:txBody>
      </p:sp>
      <p:sp>
        <p:nvSpPr>
          <p:cNvPr id="17" name="Text 15"/>
          <p:cNvSpPr/>
          <p:nvPr/>
        </p:nvSpPr>
        <p:spPr>
          <a:xfrm>
            <a:off x="6492240" y="3236976"/>
            <a:ext cx="4937760" cy="45720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Priority-weighted route scoring</a:t>
            </a:r>
            <a:endParaRPr lang="en-US" sz="1600" dirty="0"/>
          </a:p>
        </p:txBody>
      </p:sp>
      <p:sp>
        <p:nvSpPr>
          <p:cNvPr id="18" name="Text 16"/>
          <p:cNvSpPr/>
          <p:nvPr/>
        </p:nvSpPr>
        <p:spPr>
          <a:xfrm>
            <a:off x="6492240" y="3895344"/>
            <a:ext cx="4937760" cy="45720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Local road reports; blocked = removed</a:t>
            </a:r>
            <a:endParaRPr lang="en-US" sz="1600" dirty="0"/>
          </a:p>
        </p:txBody>
      </p:sp>
      <p:sp>
        <p:nvSpPr>
          <p:cNvPr id="19" name="Text 17"/>
          <p:cNvSpPr/>
          <p:nvPr/>
        </p:nvSpPr>
        <p:spPr>
          <a:xfrm>
            <a:off x="6492240" y="4553712"/>
            <a:ext cx="4937760" cy="45720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Reroute plus a written Why this route</a:t>
            </a:r>
            <a:endParaRPr lang="en-US" sz="1600" dirty="0"/>
          </a:p>
        </p:txBody>
      </p:sp>
      <p:sp>
        <p:nvSpPr>
          <p:cNvPr id="20" name="Shape 18"/>
          <p:cNvSpPr/>
          <p:nvPr/>
        </p:nvSpPr>
        <p:spPr>
          <a:xfrm>
            <a:off x="0" y="6656832"/>
            <a:ext cx="12191695" cy="201168"/>
          </a:xfrm>
          <a:prstGeom prst="rect">
            <a:avLst/>
          </a:prstGeom>
          <a:solidFill>
            <a:srgbClr val="EEF1F4"/>
          </a:solidFill>
          <a:ln w="12700">
            <a:solidFill>
              <a:srgbClr val="EEF1F4"/>
            </a:solidFill>
            <a:prstDash val="solid"/>
          </a:ln>
        </p:spPr>
      </p:sp>
      <p:sp>
        <p:nvSpPr>
          <p:cNvPr id="21" name="Text 19"/>
          <p:cNvSpPr/>
          <p:nvPr/>
        </p:nvSpPr>
        <p:spPr>
          <a:xfrm>
            <a:off x="502920" y="6656832"/>
            <a:ext cx="5486400" cy="20116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RapidRoute  ·  RIH-PS-011</a:t>
            </a:r>
            <a:endParaRPr lang="en-US" sz="1000" dirty="0"/>
          </a:p>
        </p:txBody>
      </p:sp>
      <p:sp>
        <p:nvSpPr>
          <p:cNvPr id="22" name="Text 20"/>
          <p:cNvSpPr/>
          <p:nvPr/>
        </p:nvSpPr>
        <p:spPr>
          <a:xfrm>
            <a:off x="11338560" y="6656832"/>
            <a:ext cx="457200" cy="201168"/>
          </a:xfrm>
          <a:prstGeom prst="rect">
            <a:avLst/>
          </a:prstGeom>
          <a:noFill/>
          <a:ln/>
        </p:spPr>
        <p:txBody>
          <a:bodyPr wrap="square" lIns="0" tIns="0" rIns="0" bIns="0" rtlCol="0" anchor="ctr"/>
          <a:lstStyle/>
          <a:p>
            <a:pPr algn="r" indent="0" marL="0">
              <a:buNone/>
            </a:pPr>
            <a:r>
              <a:rPr lang="en-US" sz="1000" dirty="0">
                <a:solidFill>
                  <a:srgbClr val="5F6368"/>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02920" y="201168"/>
            <a:ext cx="7315200" cy="201168"/>
          </a:xfrm>
          <a:prstGeom prst="rect">
            <a:avLst/>
          </a:prstGeom>
          <a:noFill/>
          <a:ln/>
        </p:spPr>
        <p:txBody>
          <a:bodyPr wrap="square" lIns="0" tIns="0" rIns="0" bIns="0" rtlCol="0" anchor="ctr"/>
          <a:lstStyle/>
          <a:p>
            <a:pPr indent="0" marL="0">
              <a:buNone/>
            </a:pPr>
            <a:r>
              <a:rPr lang="en-US" sz="1100" b="1" spc="140" kern="0" dirty="0">
                <a:solidFill>
                  <a:srgbClr val="5F6368"/>
                </a:solidFill>
                <a:latin typeface="Arial" pitchFamily="34" charset="0"/>
                <a:ea typeface="Arial" pitchFamily="34" charset="-122"/>
                <a:cs typeface="Arial" pitchFamily="34" charset="-120"/>
              </a:rPr>
              <a:t>OPERATOR FLOW</a:t>
            </a:r>
            <a:endParaRPr lang="en-US" sz="1100" dirty="0"/>
          </a:p>
        </p:txBody>
      </p:sp>
      <p:sp>
        <p:nvSpPr>
          <p:cNvPr id="3" name="Text 1"/>
          <p:cNvSpPr/>
          <p:nvPr/>
        </p:nvSpPr>
        <p:spPr>
          <a:xfrm>
            <a:off x="502920" y="438912"/>
            <a:ext cx="11155680" cy="457200"/>
          </a:xfrm>
          <a:prstGeom prst="rect">
            <a:avLst/>
          </a:prstGeom>
          <a:noFill/>
          <a:ln/>
        </p:spPr>
        <p:txBody>
          <a:bodyPr wrap="square" lIns="0" tIns="0" rIns="0" bIns="0" rtlCol="0" anchor="ctr"/>
          <a:lstStyle/>
          <a:p>
            <a:pPr indent="0" marL="0">
              <a:buNone/>
            </a:pPr>
            <a:r>
              <a:rPr lang="en-US" sz="2800" b="1" dirty="0">
                <a:solidFill>
                  <a:srgbClr val="202124"/>
                </a:solidFill>
                <a:latin typeface="Arial" pitchFamily="34" charset="0"/>
                <a:ea typeface="Arial" pitchFamily="34" charset="-122"/>
                <a:cs typeface="Arial" pitchFamily="34" charset="-120"/>
              </a:rPr>
              <a:t>From emergency to dispatch in seconds</a:t>
            </a:r>
            <a:endParaRPr lang="en-US" sz="2800" dirty="0"/>
          </a:p>
        </p:txBody>
      </p:sp>
      <p:sp>
        <p:nvSpPr>
          <p:cNvPr id="4" name="Shape 2"/>
          <p:cNvSpPr/>
          <p:nvPr/>
        </p:nvSpPr>
        <p:spPr>
          <a:xfrm>
            <a:off x="457200" y="1234440"/>
            <a:ext cx="1783080" cy="1554480"/>
          </a:xfrm>
          <a:prstGeom prst="rect">
            <a:avLst/>
          </a:prstGeom>
          <a:solidFill>
            <a:srgbClr val="FFFFFF"/>
          </a:solidFill>
          <a:ln w="12700">
            <a:solidFill>
              <a:srgbClr val="DADCE0"/>
            </a:solidFill>
            <a:prstDash val="solid"/>
          </a:ln>
        </p:spPr>
      </p:sp>
      <p:sp>
        <p:nvSpPr>
          <p:cNvPr id="5" name="Text 3"/>
          <p:cNvSpPr/>
          <p:nvPr/>
        </p:nvSpPr>
        <p:spPr>
          <a:xfrm>
            <a:off x="457200" y="1325880"/>
            <a:ext cx="1783080" cy="365760"/>
          </a:xfrm>
          <a:prstGeom prst="rect">
            <a:avLst/>
          </a:prstGeom>
          <a:noFill/>
          <a:ln/>
        </p:spPr>
        <p:txBody>
          <a:bodyPr wrap="square" lIns="0" tIns="0" rIns="0" bIns="0" rtlCol="0" anchor="ctr"/>
          <a:lstStyle/>
          <a:p>
            <a:pPr algn="ctr" indent="0" marL="0">
              <a:buNone/>
            </a:pPr>
            <a:r>
              <a:rPr lang="en-US" sz="2000" b="1" dirty="0">
                <a:solidFill>
                  <a:srgbClr val="1A73E8"/>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530352" y="1737360"/>
            <a:ext cx="1636776" cy="868680"/>
          </a:xfrm>
          <a:prstGeom prst="rect">
            <a:avLst/>
          </a:prstGeom>
          <a:noFill/>
          <a:ln/>
        </p:spPr>
        <p:txBody>
          <a:bodyPr wrap="square" lIns="0" tIns="0" rIns="0" bIns="0" rtlCol="0" anchor="ctr"/>
          <a:lstStyle/>
          <a:p>
            <a:pPr algn="ctr" indent="0" marL="0">
              <a:buNone/>
            </a:pPr>
            <a:r>
              <a:rPr lang="en-US" sz="1400" dirty="0">
                <a:solidFill>
                  <a:srgbClr val="202124"/>
                </a:solidFill>
                <a:latin typeface="Arial" pitchFamily="34" charset="0"/>
                <a:ea typeface="Arial" pitchFamily="34" charset="-122"/>
                <a:cs typeface="Arial" pitchFamily="34" charset="-120"/>
              </a:rPr>
              <a:t>Create</a:t>
            </a:r>
            <a:endParaRPr lang="en-US" sz="1400" dirty="0"/>
          </a:p>
          <a:p>
            <a:pPr algn="ctr" indent="0" marL="0">
              <a:buNone/>
            </a:pPr>
            <a:r>
              <a:rPr lang="en-US" sz="1400" dirty="0">
                <a:solidFill>
                  <a:srgbClr val="202124"/>
                </a:solidFill>
                <a:latin typeface="Arial" pitchFamily="34" charset="0"/>
                <a:ea typeface="Arial" pitchFamily="34" charset="-122"/>
                <a:cs typeface="Arial" pitchFamily="34" charset="-120"/>
              </a:rPr>
              <a:t>incident</a:t>
            </a:r>
            <a:endParaRPr lang="en-US" sz="1400" dirty="0"/>
          </a:p>
        </p:txBody>
      </p:sp>
      <p:sp>
        <p:nvSpPr>
          <p:cNvPr id="7" name="Shape 5"/>
          <p:cNvSpPr/>
          <p:nvPr/>
        </p:nvSpPr>
        <p:spPr>
          <a:xfrm>
            <a:off x="2249424" y="1828800"/>
            <a:ext cx="146304" cy="201168"/>
          </a:xfrm>
          <a:prstGeom prst="rightArrow">
            <a:avLst/>
          </a:prstGeom>
          <a:solidFill>
            <a:srgbClr val="DADCE0"/>
          </a:solidFill>
          <a:ln w="12700">
            <a:solidFill>
              <a:srgbClr val="DADCE0"/>
            </a:solidFill>
            <a:prstDash val="solid"/>
          </a:ln>
        </p:spPr>
      </p:sp>
      <p:sp>
        <p:nvSpPr>
          <p:cNvPr id="8" name="Shape 6"/>
          <p:cNvSpPr/>
          <p:nvPr/>
        </p:nvSpPr>
        <p:spPr>
          <a:xfrm>
            <a:off x="2395728" y="1234440"/>
            <a:ext cx="1783080" cy="1554480"/>
          </a:xfrm>
          <a:prstGeom prst="rect">
            <a:avLst/>
          </a:prstGeom>
          <a:solidFill>
            <a:srgbClr val="FFFFFF"/>
          </a:solidFill>
          <a:ln w="12700">
            <a:solidFill>
              <a:srgbClr val="DADCE0"/>
            </a:solidFill>
            <a:prstDash val="solid"/>
          </a:ln>
        </p:spPr>
      </p:sp>
      <p:sp>
        <p:nvSpPr>
          <p:cNvPr id="9" name="Text 7"/>
          <p:cNvSpPr/>
          <p:nvPr/>
        </p:nvSpPr>
        <p:spPr>
          <a:xfrm>
            <a:off x="2395728" y="1325880"/>
            <a:ext cx="1783080" cy="365760"/>
          </a:xfrm>
          <a:prstGeom prst="rect">
            <a:avLst/>
          </a:prstGeom>
          <a:noFill/>
          <a:ln/>
        </p:spPr>
        <p:txBody>
          <a:bodyPr wrap="square" lIns="0" tIns="0" rIns="0" bIns="0" rtlCol="0" anchor="ctr"/>
          <a:lstStyle/>
          <a:p>
            <a:pPr algn="ctr" indent="0" marL="0">
              <a:buNone/>
            </a:pPr>
            <a:r>
              <a:rPr lang="en-US" sz="2000" b="1" dirty="0">
                <a:solidFill>
                  <a:srgbClr val="1A73E8"/>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2468880" y="1737360"/>
            <a:ext cx="1636776" cy="868680"/>
          </a:xfrm>
          <a:prstGeom prst="rect">
            <a:avLst/>
          </a:prstGeom>
          <a:noFill/>
          <a:ln/>
        </p:spPr>
        <p:txBody>
          <a:bodyPr wrap="square" lIns="0" tIns="0" rIns="0" bIns="0" rtlCol="0" anchor="ctr"/>
          <a:lstStyle/>
          <a:p>
            <a:pPr algn="ctr" indent="0" marL="0">
              <a:buNone/>
            </a:pPr>
            <a:r>
              <a:rPr lang="en-US" sz="1400" dirty="0">
                <a:solidFill>
                  <a:srgbClr val="202124"/>
                </a:solidFill>
                <a:latin typeface="Arial" pitchFamily="34" charset="0"/>
                <a:ea typeface="Arial" pitchFamily="34" charset="-122"/>
                <a:cs typeface="Arial" pitchFamily="34" charset="-120"/>
              </a:rPr>
              <a:t>Origin +</a:t>
            </a:r>
            <a:endParaRPr lang="en-US" sz="1400" dirty="0"/>
          </a:p>
          <a:p>
            <a:pPr algn="ctr" indent="0" marL="0">
              <a:buNone/>
            </a:pPr>
            <a:r>
              <a:rPr lang="en-US" sz="1400" dirty="0">
                <a:solidFill>
                  <a:srgbClr val="202124"/>
                </a:solidFill>
                <a:latin typeface="Arial" pitchFamily="34" charset="0"/>
                <a:ea typeface="Arial" pitchFamily="34" charset="-122"/>
                <a:cs typeface="Arial" pitchFamily="34" charset="-120"/>
              </a:rPr>
              <a:t>hospital</a:t>
            </a:r>
            <a:endParaRPr lang="en-US" sz="1400" dirty="0"/>
          </a:p>
        </p:txBody>
      </p:sp>
      <p:sp>
        <p:nvSpPr>
          <p:cNvPr id="11" name="Shape 9"/>
          <p:cNvSpPr/>
          <p:nvPr/>
        </p:nvSpPr>
        <p:spPr>
          <a:xfrm>
            <a:off x="4187952" y="1828800"/>
            <a:ext cx="146304" cy="201168"/>
          </a:xfrm>
          <a:prstGeom prst="rightArrow">
            <a:avLst/>
          </a:prstGeom>
          <a:solidFill>
            <a:srgbClr val="DADCE0"/>
          </a:solidFill>
          <a:ln w="12700">
            <a:solidFill>
              <a:srgbClr val="DADCE0"/>
            </a:solidFill>
            <a:prstDash val="solid"/>
          </a:ln>
        </p:spPr>
      </p:sp>
      <p:sp>
        <p:nvSpPr>
          <p:cNvPr id="12" name="Shape 10"/>
          <p:cNvSpPr/>
          <p:nvPr/>
        </p:nvSpPr>
        <p:spPr>
          <a:xfrm>
            <a:off x="4334256" y="1234440"/>
            <a:ext cx="1783080" cy="1554480"/>
          </a:xfrm>
          <a:prstGeom prst="rect">
            <a:avLst/>
          </a:prstGeom>
          <a:solidFill>
            <a:srgbClr val="FFFFFF"/>
          </a:solidFill>
          <a:ln w="12700">
            <a:solidFill>
              <a:srgbClr val="DADCE0"/>
            </a:solidFill>
            <a:prstDash val="solid"/>
          </a:ln>
        </p:spPr>
      </p:sp>
      <p:sp>
        <p:nvSpPr>
          <p:cNvPr id="13" name="Text 11"/>
          <p:cNvSpPr/>
          <p:nvPr/>
        </p:nvSpPr>
        <p:spPr>
          <a:xfrm>
            <a:off x="4334256" y="1325880"/>
            <a:ext cx="1783080" cy="365760"/>
          </a:xfrm>
          <a:prstGeom prst="rect">
            <a:avLst/>
          </a:prstGeom>
          <a:noFill/>
          <a:ln/>
        </p:spPr>
        <p:txBody>
          <a:bodyPr wrap="square" lIns="0" tIns="0" rIns="0" bIns="0" rtlCol="0" anchor="ctr"/>
          <a:lstStyle/>
          <a:p>
            <a:pPr algn="ctr" indent="0" marL="0">
              <a:buNone/>
            </a:pPr>
            <a:r>
              <a:rPr lang="en-US" sz="2000" b="1" dirty="0">
                <a:solidFill>
                  <a:srgbClr val="1A73E8"/>
                </a:solidFill>
                <a:latin typeface="Arial" pitchFamily="34" charset="0"/>
                <a:ea typeface="Arial" pitchFamily="34" charset="-122"/>
                <a:cs typeface="Arial" pitchFamily="34" charset="-120"/>
              </a:rPr>
              <a:t>3</a:t>
            </a:r>
            <a:endParaRPr lang="en-US" sz="2000" dirty="0"/>
          </a:p>
        </p:txBody>
      </p:sp>
      <p:sp>
        <p:nvSpPr>
          <p:cNvPr id="14" name="Text 12"/>
          <p:cNvSpPr/>
          <p:nvPr/>
        </p:nvSpPr>
        <p:spPr>
          <a:xfrm>
            <a:off x="4407408" y="1737360"/>
            <a:ext cx="1636776" cy="868680"/>
          </a:xfrm>
          <a:prstGeom prst="rect">
            <a:avLst/>
          </a:prstGeom>
          <a:noFill/>
          <a:ln/>
        </p:spPr>
        <p:txBody>
          <a:bodyPr wrap="square" lIns="0" tIns="0" rIns="0" bIns="0" rtlCol="0" anchor="ctr"/>
          <a:lstStyle/>
          <a:p>
            <a:pPr algn="ctr" indent="0" marL="0">
              <a:buNone/>
            </a:pPr>
            <a:r>
              <a:rPr lang="en-US" sz="1400" dirty="0">
                <a:solidFill>
                  <a:srgbClr val="202124"/>
                </a:solidFill>
                <a:latin typeface="Arial" pitchFamily="34" charset="0"/>
                <a:ea typeface="Arial" pitchFamily="34" charset="-122"/>
                <a:cs typeface="Arial" pitchFamily="34" charset="-120"/>
              </a:rPr>
              <a:t>Assign</a:t>
            </a:r>
            <a:endParaRPr lang="en-US" sz="1400" dirty="0"/>
          </a:p>
          <a:p>
            <a:pPr algn="ctr" indent="0" marL="0">
              <a:buNone/>
            </a:pPr>
            <a:r>
              <a:rPr lang="en-US" sz="1400" dirty="0">
                <a:solidFill>
                  <a:srgbClr val="202124"/>
                </a:solidFill>
                <a:latin typeface="Arial" pitchFamily="34" charset="0"/>
                <a:ea typeface="Arial" pitchFamily="34" charset="-122"/>
                <a:cs typeface="Arial" pitchFamily="34" charset="-120"/>
              </a:rPr>
              <a:t>available unit</a:t>
            </a:r>
            <a:endParaRPr lang="en-US" sz="1400" dirty="0"/>
          </a:p>
        </p:txBody>
      </p:sp>
      <p:sp>
        <p:nvSpPr>
          <p:cNvPr id="15" name="Shape 13"/>
          <p:cNvSpPr/>
          <p:nvPr/>
        </p:nvSpPr>
        <p:spPr>
          <a:xfrm>
            <a:off x="6126480" y="1828800"/>
            <a:ext cx="146304" cy="201168"/>
          </a:xfrm>
          <a:prstGeom prst="rightArrow">
            <a:avLst/>
          </a:prstGeom>
          <a:solidFill>
            <a:srgbClr val="DADCE0"/>
          </a:solidFill>
          <a:ln w="12700">
            <a:solidFill>
              <a:srgbClr val="DADCE0"/>
            </a:solidFill>
            <a:prstDash val="solid"/>
          </a:ln>
        </p:spPr>
      </p:sp>
      <p:sp>
        <p:nvSpPr>
          <p:cNvPr id="16" name="Shape 14"/>
          <p:cNvSpPr/>
          <p:nvPr/>
        </p:nvSpPr>
        <p:spPr>
          <a:xfrm>
            <a:off x="6272784" y="1234440"/>
            <a:ext cx="1783080" cy="1554480"/>
          </a:xfrm>
          <a:prstGeom prst="rect">
            <a:avLst/>
          </a:prstGeom>
          <a:solidFill>
            <a:srgbClr val="FFFFFF"/>
          </a:solidFill>
          <a:ln w="12700">
            <a:solidFill>
              <a:srgbClr val="DADCE0"/>
            </a:solidFill>
            <a:prstDash val="solid"/>
          </a:ln>
        </p:spPr>
      </p:sp>
      <p:sp>
        <p:nvSpPr>
          <p:cNvPr id="17" name="Text 15"/>
          <p:cNvSpPr/>
          <p:nvPr/>
        </p:nvSpPr>
        <p:spPr>
          <a:xfrm>
            <a:off x="6272784" y="1325880"/>
            <a:ext cx="1783080" cy="365760"/>
          </a:xfrm>
          <a:prstGeom prst="rect">
            <a:avLst/>
          </a:prstGeom>
          <a:noFill/>
          <a:ln/>
        </p:spPr>
        <p:txBody>
          <a:bodyPr wrap="square" lIns="0" tIns="0" rIns="0" bIns="0" rtlCol="0" anchor="ctr"/>
          <a:lstStyle/>
          <a:p>
            <a:pPr algn="ctr" indent="0" marL="0">
              <a:buNone/>
            </a:pPr>
            <a:r>
              <a:rPr lang="en-US" sz="2000" b="1" dirty="0">
                <a:solidFill>
                  <a:srgbClr val="1A73E8"/>
                </a:solidFill>
                <a:latin typeface="Arial" pitchFamily="34" charset="0"/>
                <a:ea typeface="Arial" pitchFamily="34" charset="-122"/>
                <a:cs typeface="Arial" pitchFamily="34" charset="-120"/>
              </a:rPr>
              <a:t>4</a:t>
            </a:r>
            <a:endParaRPr lang="en-US" sz="2000" dirty="0"/>
          </a:p>
        </p:txBody>
      </p:sp>
      <p:sp>
        <p:nvSpPr>
          <p:cNvPr id="18" name="Text 16"/>
          <p:cNvSpPr/>
          <p:nvPr/>
        </p:nvSpPr>
        <p:spPr>
          <a:xfrm>
            <a:off x="6345936" y="1737360"/>
            <a:ext cx="1636776" cy="868680"/>
          </a:xfrm>
          <a:prstGeom prst="rect">
            <a:avLst/>
          </a:prstGeom>
          <a:noFill/>
          <a:ln/>
        </p:spPr>
        <p:txBody>
          <a:bodyPr wrap="square" lIns="0" tIns="0" rIns="0" bIns="0" rtlCol="0" anchor="ctr"/>
          <a:lstStyle/>
          <a:p>
            <a:pPr algn="ctr" indent="0" marL="0">
              <a:buNone/>
            </a:pPr>
            <a:r>
              <a:rPr lang="en-US" sz="1400" dirty="0">
                <a:solidFill>
                  <a:srgbClr val="202124"/>
                </a:solidFill>
                <a:latin typeface="Arial" pitchFamily="34" charset="0"/>
                <a:ea typeface="Arial" pitchFamily="34" charset="-122"/>
                <a:cs typeface="Arial" pitchFamily="34" charset="-120"/>
              </a:rPr>
              <a:t>Calculate</a:t>
            </a:r>
            <a:endParaRPr lang="en-US" sz="1400" dirty="0"/>
          </a:p>
          <a:p>
            <a:pPr algn="ctr" indent="0" marL="0">
              <a:buNone/>
            </a:pPr>
            <a:r>
              <a:rPr lang="en-US" sz="1400" dirty="0">
                <a:solidFill>
                  <a:srgbClr val="202124"/>
                </a:solidFill>
                <a:latin typeface="Arial" pitchFamily="34" charset="0"/>
                <a:ea typeface="Arial" pitchFamily="34" charset="-122"/>
                <a:cs typeface="Arial" pitchFamily="34" charset="-120"/>
              </a:rPr>
              <a:t>Google routes</a:t>
            </a:r>
            <a:endParaRPr lang="en-US" sz="1400" dirty="0"/>
          </a:p>
        </p:txBody>
      </p:sp>
      <p:sp>
        <p:nvSpPr>
          <p:cNvPr id="19" name="Shape 17"/>
          <p:cNvSpPr/>
          <p:nvPr/>
        </p:nvSpPr>
        <p:spPr>
          <a:xfrm>
            <a:off x="8065008" y="1828800"/>
            <a:ext cx="146304" cy="201168"/>
          </a:xfrm>
          <a:prstGeom prst="rightArrow">
            <a:avLst/>
          </a:prstGeom>
          <a:solidFill>
            <a:srgbClr val="DADCE0"/>
          </a:solidFill>
          <a:ln w="12700">
            <a:solidFill>
              <a:srgbClr val="DADCE0"/>
            </a:solidFill>
            <a:prstDash val="solid"/>
          </a:ln>
        </p:spPr>
      </p:sp>
      <p:sp>
        <p:nvSpPr>
          <p:cNvPr id="20" name="Shape 18"/>
          <p:cNvSpPr/>
          <p:nvPr/>
        </p:nvSpPr>
        <p:spPr>
          <a:xfrm>
            <a:off x="8211312" y="1234440"/>
            <a:ext cx="1783080" cy="1554480"/>
          </a:xfrm>
          <a:prstGeom prst="rect">
            <a:avLst/>
          </a:prstGeom>
          <a:solidFill>
            <a:srgbClr val="FFFFFF"/>
          </a:solidFill>
          <a:ln w="12700">
            <a:solidFill>
              <a:srgbClr val="DADCE0"/>
            </a:solidFill>
            <a:prstDash val="solid"/>
          </a:ln>
        </p:spPr>
      </p:sp>
      <p:sp>
        <p:nvSpPr>
          <p:cNvPr id="21" name="Text 19"/>
          <p:cNvSpPr/>
          <p:nvPr/>
        </p:nvSpPr>
        <p:spPr>
          <a:xfrm>
            <a:off x="8211312" y="1325880"/>
            <a:ext cx="1783080" cy="365760"/>
          </a:xfrm>
          <a:prstGeom prst="rect">
            <a:avLst/>
          </a:prstGeom>
          <a:noFill/>
          <a:ln/>
        </p:spPr>
        <p:txBody>
          <a:bodyPr wrap="square" lIns="0" tIns="0" rIns="0" bIns="0" rtlCol="0" anchor="ctr"/>
          <a:lstStyle/>
          <a:p>
            <a:pPr algn="ctr" indent="0" marL="0">
              <a:buNone/>
            </a:pPr>
            <a:r>
              <a:rPr lang="en-US" sz="2000" b="1" dirty="0">
                <a:solidFill>
                  <a:srgbClr val="1A73E8"/>
                </a:solidFill>
                <a:latin typeface="Arial" pitchFamily="34" charset="0"/>
                <a:ea typeface="Arial" pitchFamily="34" charset="-122"/>
                <a:cs typeface="Arial" pitchFamily="34" charset="-120"/>
              </a:rPr>
              <a:t>5</a:t>
            </a:r>
            <a:endParaRPr lang="en-US" sz="2000" dirty="0"/>
          </a:p>
        </p:txBody>
      </p:sp>
      <p:sp>
        <p:nvSpPr>
          <p:cNvPr id="22" name="Text 20"/>
          <p:cNvSpPr/>
          <p:nvPr/>
        </p:nvSpPr>
        <p:spPr>
          <a:xfrm>
            <a:off x="8284464" y="1737360"/>
            <a:ext cx="1636776" cy="868680"/>
          </a:xfrm>
          <a:prstGeom prst="rect">
            <a:avLst/>
          </a:prstGeom>
          <a:noFill/>
          <a:ln/>
        </p:spPr>
        <p:txBody>
          <a:bodyPr wrap="square" lIns="0" tIns="0" rIns="0" bIns="0" rtlCol="0" anchor="ctr"/>
          <a:lstStyle/>
          <a:p>
            <a:pPr algn="ctr" indent="0" marL="0">
              <a:buNone/>
            </a:pPr>
            <a:r>
              <a:rPr lang="en-US" sz="1400" dirty="0">
                <a:solidFill>
                  <a:srgbClr val="202124"/>
                </a:solidFill>
                <a:latin typeface="Arial" pitchFamily="34" charset="0"/>
                <a:ea typeface="Arial" pitchFamily="34" charset="-122"/>
                <a:cs typeface="Arial" pitchFamily="34" charset="-120"/>
              </a:rPr>
              <a:t>Score</a:t>
            </a:r>
            <a:endParaRPr lang="en-US" sz="1400" dirty="0"/>
          </a:p>
          <a:p>
            <a:pPr algn="ctr" indent="0" marL="0">
              <a:buNone/>
            </a:pPr>
            <a:r>
              <a:rPr lang="en-US" sz="1400" dirty="0">
                <a:solidFill>
                  <a:srgbClr val="202124"/>
                </a:solidFill>
                <a:latin typeface="Arial" pitchFamily="34" charset="0"/>
                <a:ea typeface="Arial" pitchFamily="34" charset="-122"/>
                <a:cs typeface="Arial" pitchFamily="34" charset="-120"/>
              </a:rPr>
              <a:t>alternatives</a:t>
            </a:r>
            <a:endParaRPr lang="en-US" sz="1400" dirty="0"/>
          </a:p>
        </p:txBody>
      </p:sp>
      <p:sp>
        <p:nvSpPr>
          <p:cNvPr id="23" name="Shape 21"/>
          <p:cNvSpPr/>
          <p:nvPr/>
        </p:nvSpPr>
        <p:spPr>
          <a:xfrm>
            <a:off x="10003536" y="1828800"/>
            <a:ext cx="146304" cy="201168"/>
          </a:xfrm>
          <a:prstGeom prst="rightArrow">
            <a:avLst/>
          </a:prstGeom>
          <a:solidFill>
            <a:srgbClr val="DADCE0"/>
          </a:solidFill>
          <a:ln w="12700">
            <a:solidFill>
              <a:srgbClr val="DADCE0"/>
            </a:solidFill>
            <a:prstDash val="solid"/>
          </a:ln>
        </p:spPr>
      </p:sp>
      <p:sp>
        <p:nvSpPr>
          <p:cNvPr id="24" name="Shape 22"/>
          <p:cNvSpPr/>
          <p:nvPr/>
        </p:nvSpPr>
        <p:spPr>
          <a:xfrm>
            <a:off x="10149840" y="1234440"/>
            <a:ext cx="1783080" cy="1554480"/>
          </a:xfrm>
          <a:prstGeom prst="rect">
            <a:avLst/>
          </a:prstGeom>
          <a:solidFill>
            <a:srgbClr val="FFFFFF"/>
          </a:solidFill>
          <a:ln w="12700">
            <a:solidFill>
              <a:srgbClr val="DADCE0"/>
            </a:solidFill>
            <a:prstDash val="solid"/>
          </a:ln>
        </p:spPr>
      </p:sp>
      <p:sp>
        <p:nvSpPr>
          <p:cNvPr id="25" name="Text 23"/>
          <p:cNvSpPr/>
          <p:nvPr/>
        </p:nvSpPr>
        <p:spPr>
          <a:xfrm>
            <a:off x="10149840" y="1325880"/>
            <a:ext cx="1783080" cy="365760"/>
          </a:xfrm>
          <a:prstGeom prst="rect">
            <a:avLst/>
          </a:prstGeom>
          <a:noFill/>
          <a:ln/>
        </p:spPr>
        <p:txBody>
          <a:bodyPr wrap="square" lIns="0" tIns="0" rIns="0" bIns="0" rtlCol="0" anchor="ctr"/>
          <a:lstStyle/>
          <a:p>
            <a:pPr algn="ctr" indent="0" marL="0">
              <a:buNone/>
            </a:pPr>
            <a:r>
              <a:rPr lang="en-US" sz="2000" b="1" dirty="0">
                <a:solidFill>
                  <a:srgbClr val="1A73E8"/>
                </a:solidFill>
                <a:latin typeface="Arial" pitchFamily="34" charset="0"/>
                <a:ea typeface="Arial" pitchFamily="34" charset="-122"/>
                <a:cs typeface="Arial" pitchFamily="34" charset="-120"/>
              </a:rPr>
              <a:t>6</a:t>
            </a:r>
            <a:endParaRPr lang="en-US" sz="2000" dirty="0"/>
          </a:p>
        </p:txBody>
      </p:sp>
      <p:sp>
        <p:nvSpPr>
          <p:cNvPr id="26" name="Text 24"/>
          <p:cNvSpPr/>
          <p:nvPr/>
        </p:nvSpPr>
        <p:spPr>
          <a:xfrm>
            <a:off x="10222992" y="1737360"/>
            <a:ext cx="1636776" cy="868680"/>
          </a:xfrm>
          <a:prstGeom prst="rect">
            <a:avLst/>
          </a:prstGeom>
          <a:noFill/>
          <a:ln/>
        </p:spPr>
        <p:txBody>
          <a:bodyPr wrap="square" lIns="0" tIns="0" rIns="0" bIns="0" rtlCol="0" anchor="ctr"/>
          <a:lstStyle/>
          <a:p>
            <a:pPr algn="ctr" indent="0" marL="0">
              <a:buNone/>
            </a:pPr>
            <a:r>
              <a:rPr lang="en-US" sz="1400" dirty="0">
                <a:solidFill>
                  <a:srgbClr val="202124"/>
                </a:solidFill>
                <a:latin typeface="Arial" pitchFamily="34" charset="0"/>
                <a:ea typeface="Arial" pitchFamily="34" charset="-122"/>
                <a:cs typeface="Arial" pitchFamily="34" charset="-120"/>
              </a:rPr>
              <a:t>Start</a:t>
            </a:r>
            <a:endParaRPr lang="en-US" sz="1400" dirty="0"/>
          </a:p>
          <a:p>
            <a:pPr algn="ctr" indent="0" marL="0">
              <a:buNone/>
            </a:pPr>
            <a:r>
              <a:rPr lang="en-US" sz="1400" dirty="0">
                <a:solidFill>
                  <a:srgbClr val="202124"/>
                </a:solidFill>
                <a:latin typeface="Arial" pitchFamily="34" charset="0"/>
                <a:ea typeface="Arial" pitchFamily="34" charset="-122"/>
                <a:cs typeface="Arial" pitchFamily="34" charset="-120"/>
              </a:rPr>
              <a:t>journey</a:t>
            </a:r>
            <a:endParaRPr lang="en-US" sz="1400" dirty="0"/>
          </a:p>
        </p:txBody>
      </p:sp>
      <p:sp>
        <p:nvSpPr>
          <p:cNvPr id="27" name="Text 25"/>
          <p:cNvSpPr/>
          <p:nvPr/>
        </p:nvSpPr>
        <p:spPr>
          <a:xfrm>
            <a:off x="502920" y="3017520"/>
            <a:ext cx="10972800" cy="292608"/>
          </a:xfrm>
          <a:prstGeom prst="rect">
            <a:avLst/>
          </a:prstGeom>
          <a:noFill/>
          <a:ln/>
        </p:spPr>
        <p:txBody>
          <a:bodyPr wrap="square" lIns="0" tIns="0" rIns="0" bIns="0" rtlCol="0" anchor="ctr"/>
          <a:lstStyle/>
          <a:p>
            <a:pPr indent="0" marL="0">
              <a:buNone/>
            </a:pPr>
            <a:r>
              <a:rPr lang="en-US" sz="1400" b="1" dirty="0">
                <a:solidFill>
                  <a:srgbClr val="5F6368"/>
                </a:solidFill>
                <a:latin typeface="Arial" pitchFamily="34" charset="0"/>
                <a:ea typeface="Arial" pitchFamily="34" charset="-122"/>
                <a:cs typeface="Arial" pitchFamily="34" charset="-120"/>
              </a:rPr>
              <a:t>If the road closes after dispatch</a:t>
            </a:r>
            <a:endParaRPr lang="en-US" sz="1400" dirty="0"/>
          </a:p>
        </p:txBody>
      </p:sp>
      <p:sp>
        <p:nvSpPr>
          <p:cNvPr id="28" name="Shape 26"/>
          <p:cNvSpPr/>
          <p:nvPr/>
        </p:nvSpPr>
        <p:spPr>
          <a:xfrm>
            <a:off x="502920" y="3429000"/>
            <a:ext cx="2743200" cy="1417320"/>
          </a:xfrm>
          <a:prstGeom prst="rect">
            <a:avLst/>
          </a:prstGeom>
          <a:solidFill>
            <a:srgbClr val="D93025"/>
          </a:solidFill>
          <a:ln w="12700">
            <a:solidFill>
              <a:srgbClr val="D93025"/>
            </a:solidFill>
            <a:prstDash val="solid"/>
          </a:ln>
        </p:spPr>
      </p:sp>
      <p:sp>
        <p:nvSpPr>
          <p:cNvPr id="29" name="Text 27"/>
          <p:cNvSpPr/>
          <p:nvPr/>
        </p:nvSpPr>
        <p:spPr>
          <a:xfrm>
            <a:off x="612648" y="3703320"/>
            <a:ext cx="2523744" cy="9601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Road blocked</a:t>
            </a:r>
            <a:endParaRPr lang="en-US" sz="1600" dirty="0"/>
          </a:p>
        </p:txBody>
      </p:sp>
      <p:sp>
        <p:nvSpPr>
          <p:cNvPr id="30" name="Shape 28"/>
          <p:cNvSpPr/>
          <p:nvPr/>
        </p:nvSpPr>
        <p:spPr>
          <a:xfrm>
            <a:off x="3383280" y="3429000"/>
            <a:ext cx="2743200" cy="1417320"/>
          </a:xfrm>
          <a:prstGeom prst="rect">
            <a:avLst/>
          </a:prstGeom>
          <a:solidFill>
            <a:srgbClr val="FFFFFF"/>
          </a:solidFill>
          <a:ln w="12700">
            <a:solidFill>
              <a:srgbClr val="DADCE0"/>
            </a:solidFill>
            <a:prstDash val="solid"/>
          </a:ln>
        </p:spPr>
      </p:sp>
      <p:sp>
        <p:nvSpPr>
          <p:cNvPr id="31" name="Text 29"/>
          <p:cNvSpPr/>
          <p:nvPr/>
        </p:nvSpPr>
        <p:spPr>
          <a:xfrm>
            <a:off x="3493008" y="3703320"/>
            <a:ext cx="2523744" cy="960120"/>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Ask Google again</a:t>
            </a:r>
            <a:endParaRPr lang="en-US" sz="1600" dirty="0"/>
          </a:p>
          <a:p>
            <a:pPr indent="0" marL="0">
              <a:buNone/>
            </a:pPr>
            <a:r>
              <a:rPr lang="en-US" sz="1600" b="1" dirty="0">
                <a:solidFill>
                  <a:srgbClr val="202124"/>
                </a:solidFill>
                <a:latin typeface="Arial" pitchFamily="34" charset="0"/>
                <a:ea typeface="Arial" pitchFamily="34" charset="-122"/>
                <a:cs typeface="Arial" pitchFamily="34" charset="-120"/>
              </a:rPr>
              <a:t>from current point</a:t>
            </a:r>
            <a:endParaRPr lang="en-US" sz="1600" dirty="0"/>
          </a:p>
        </p:txBody>
      </p:sp>
      <p:sp>
        <p:nvSpPr>
          <p:cNvPr id="32" name="Shape 30"/>
          <p:cNvSpPr/>
          <p:nvPr/>
        </p:nvSpPr>
        <p:spPr>
          <a:xfrm>
            <a:off x="6263640" y="3429000"/>
            <a:ext cx="2743200" cy="1417320"/>
          </a:xfrm>
          <a:prstGeom prst="rect">
            <a:avLst/>
          </a:prstGeom>
          <a:solidFill>
            <a:srgbClr val="FFFFFF"/>
          </a:solidFill>
          <a:ln w="12700">
            <a:solidFill>
              <a:srgbClr val="DADCE0"/>
            </a:solidFill>
            <a:prstDash val="solid"/>
          </a:ln>
        </p:spPr>
      </p:sp>
      <p:sp>
        <p:nvSpPr>
          <p:cNvPr id="33" name="Text 31"/>
          <p:cNvSpPr/>
          <p:nvPr/>
        </p:nvSpPr>
        <p:spPr>
          <a:xfrm>
            <a:off x="6373368" y="3703320"/>
            <a:ext cx="2523744" cy="960120"/>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Remove blocked</a:t>
            </a:r>
            <a:endParaRPr lang="en-US" sz="1600" dirty="0"/>
          </a:p>
          <a:p>
            <a:pPr indent="0" marL="0">
              <a:buNone/>
            </a:pPr>
            <a:r>
              <a:rPr lang="en-US" sz="1600" b="1" dirty="0">
                <a:solidFill>
                  <a:srgbClr val="202124"/>
                </a:solidFill>
                <a:latin typeface="Arial" pitchFamily="34" charset="0"/>
                <a:ea typeface="Arial" pitchFamily="34" charset="-122"/>
                <a:cs typeface="Arial" pitchFamily="34" charset="-120"/>
              </a:rPr>
              <a:t>candidate</a:t>
            </a:r>
            <a:endParaRPr lang="en-US" sz="1600" dirty="0"/>
          </a:p>
        </p:txBody>
      </p:sp>
      <p:sp>
        <p:nvSpPr>
          <p:cNvPr id="34" name="Shape 32"/>
          <p:cNvSpPr/>
          <p:nvPr/>
        </p:nvSpPr>
        <p:spPr>
          <a:xfrm>
            <a:off x="9144000" y="3429000"/>
            <a:ext cx="2743200" cy="1417320"/>
          </a:xfrm>
          <a:prstGeom prst="rect">
            <a:avLst/>
          </a:prstGeom>
          <a:solidFill>
            <a:srgbClr val="188038"/>
          </a:solidFill>
          <a:ln w="12700">
            <a:solidFill>
              <a:srgbClr val="188038"/>
            </a:solidFill>
            <a:prstDash val="solid"/>
          </a:ln>
        </p:spPr>
      </p:sp>
      <p:sp>
        <p:nvSpPr>
          <p:cNvPr id="35" name="Text 33"/>
          <p:cNvSpPr/>
          <p:nvPr/>
        </p:nvSpPr>
        <p:spPr>
          <a:xfrm>
            <a:off x="9253728" y="3703320"/>
            <a:ext cx="2523744" cy="9601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Adopt a clear</a:t>
            </a:r>
            <a:endParaRPr lang="en-US" sz="1600" dirty="0"/>
          </a:p>
          <a:p>
            <a:pPr indent="0" marL="0">
              <a:buNone/>
            </a:pPr>
            <a:r>
              <a:rPr lang="en-US" sz="1600" b="1" dirty="0">
                <a:solidFill>
                  <a:srgbClr val="FFFFFF"/>
                </a:solidFill>
                <a:latin typeface="Arial" pitchFamily="34" charset="0"/>
                <a:ea typeface="Arial" pitchFamily="34" charset="-122"/>
                <a:cs typeface="Arial" pitchFamily="34" charset="-120"/>
              </a:rPr>
              <a:t>alternative if one exists</a:t>
            </a:r>
            <a:endParaRPr lang="en-US" sz="1600" dirty="0"/>
          </a:p>
        </p:txBody>
      </p:sp>
      <p:sp>
        <p:nvSpPr>
          <p:cNvPr id="36" name="Text 34"/>
          <p:cNvSpPr/>
          <p:nvPr/>
        </p:nvSpPr>
        <p:spPr>
          <a:xfrm>
            <a:off x="502920" y="5074920"/>
            <a:ext cx="11155680" cy="365760"/>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Reroute only if the current path is blocked, or the new path is clearly better (about 10 score points or 60 seconds).</a:t>
            </a:r>
            <a:endParaRPr lang="en-US" sz="1400" dirty="0"/>
          </a:p>
        </p:txBody>
      </p:sp>
      <p:sp>
        <p:nvSpPr>
          <p:cNvPr id="37" name="Text 35"/>
          <p:cNvSpPr/>
          <p:nvPr/>
        </p:nvSpPr>
        <p:spPr>
          <a:xfrm>
            <a:off x="502920" y="5440680"/>
            <a:ext cx="11155680" cy="411480"/>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The moving marker is a simulation along Google's line. It is not live van GPS. Official trip time stays at dispatch unless we reroute.</a:t>
            </a:r>
            <a:endParaRPr lang="en-US" sz="1400" dirty="0"/>
          </a:p>
        </p:txBody>
      </p:sp>
      <p:sp>
        <p:nvSpPr>
          <p:cNvPr id="38" name="Shape 36"/>
          <p:cNvSpPr/>
          <p:nvPr/>
        </p:nvSpPr>
        <p:spPr>
          <a:xfrm>
            <a:off x="0" y="6656832"/>
            <a:ext cx="12191695" cy="201168"/>
          </a:xfrm>
          <a:prstGeom prst="rect">
            <a:avLst/>
          </a:prstGeom>
          <a:solidFill>
            <a:srgbClr val="EEF1F4"/>
          </a:solidFill>
          <a:ln w="12700">
            <a:solidFill>
              <a:srgbClr val="EEF1F4"/>
            </a:solidFill>
            <a:prstDash val="solid"/>
          </a:ln>
        </p:spPr>
      </p:sp>
      <p:sp>
        <p:nvSpPr>
          <p:cNvPr id="39" name="Text 37"/>
          <p:cNvSpPr/>
          <p:nvPr/>
        </p:nvSpPr>
        <p:spPr>
          <a:xfrm>
            <a:off x="502920" y="6656832"/>
            <a:ext cx="5486400" cy="20116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RapidRoute  ·  RIH-PS-011</a:t>
            </a:r>
            <a:endParaRPr lang="en-US" sz="1000" dirty="0"/>
          </a:p>
        </p:txBody>
      </p:sp>
      <p:sp>
        <p:nvSpPr>
          <p:cNvPr id="40" name="Text 38"/>
          <p:cNvSpPr/>
          <p:nvPr/>
        </p:nvSpPr>
        <p:spPr>
          <a:xfrm>
            <a:off x="11338560" y="6656832"/>
            <a:ext cx="457200" cy="201168"/>
          </a:xfrm>
          <a:prstGeom prst="rect">
            <a:avLst/>
          </a:prstGeom>
          <a:noFill/>
          <a:ln/>
        </p:spPr>
        <p:txBody>
          <a:bodyPr wrap="square" lIns="0" tIns="0" rIns="0" bIns="0" rtlCol="0" anchor="ctr"/>
          <a:lstStyle/>
          <a:p>
            <a:pPr algn="r" indent="0" marL="0">
              <a:buNone/>
            </a:pPr>
            <a:r>
              <a:rPr lang="en-US" sz="1000" dirty="0">
                <a:solidFill>
                  <a:srgbClr val="5F6368"/>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02920" y="201168"/>
            <a:ext cx="7315200" cy="201168"/>
          </a:xfrm>
          <a:prstGeom prst="rect">
            <a:avLst/>
          </a:prstGeom>
          <a:noFill/>
          <a:ln/>
        </p:spPr>
        <p:txBody>
          <a:bodyPr wrap="square" lIns="0" tIns="0" rIns="0" bIns="0" rtlCol="0" anchor="ctr"/>
          <a:lstStyle/>
          <a:p>
            <a:pPr indent="0" marL="0">
              <a:buNone/>
            </a:pPr>
            <a:r>
              <a:rPr lang="en-US" sz="1100" b="1" spc="140" kern="0" dirty="0">
                <a:solidFill>
                  <a:srgbClr val="5F6368"/>
                </a:solidFill>
                <a:latin typeface="Arial" pitchFamily="34" charset="0"/>
                <a:ea typeface="Arial" pitchFamily="34" charset="-122"/>
                <a:cs typeface="Arial" pitchFamily="34" charset="-120"/>
              </a:rPr>
              <a:t>DECISION ENGINE</a:t>
            </a:r>
            <a:endParaRPr lang="en-US" sz="1100" dirty="0"/>
          </a:p>
        </p:txBody>
      </p:sp>
      <p:sp>
        <p:nvSpPr>
          <p:cNvPr id="3" name="Text 1"/>
          <p:cNvSpPr/>
          <p:nvPr/>
        </p:nvSpPr>
        <p:spPr>
          <a:xfrm>
            <a:off x="502920" y="438912"/>
            <a:ext cx="11155680" cy="457200"/>
          </a:xfrm>
          <a:prstGeom prst="rect">
            <a:avLst/>
          </a:prstGeom>
          <a:noFill/>
          <a:ln/>
        </p:spPr>
        <p:txBody>
          <a:bodyPr wrap="square" lIns="0" tIns="0" rIns="0" bIns="0" rtlCol="0" anchor="ctr"/>
          <a:lstStyle/>
          <a:p>
            <a:pPr indent="0" marL="0">
              <a:buNone/>
            </a:pPr>
            <a:r>
              <a:rPr lang="en-US" sz="2800" b="1" dirty="0">
                <a:solidFill>
                  <a:srgbClr val="202124"/>
                </a:solidFill>
                <a:latin typeface="Arial" pitchFamily="34" charset="0"/>
                <a:ea typeface="Arial" pitchFamily="34" charset="-122"/>
                <a:cs typeface="Arial" pitchFamily="34" charset="-120"/>
              </a:rPr>
              <a:t>How RapidRoute chooses a route</a:t>
            </a:r>
            <a:endParaRPr lang="en-US" sz="2800" dirty="0"/>
          </a:p>
        </p:txBody>
      </p:sp>
      <p:sp>
        <p:nvSpPr>
          <p:cNvPr id="4" name="Text 2"/>
          <p:cNvSpPr/>
          <p:nvPr/>
        </p:nvSpPr>
        <p:spPr>
          <a:xfrm>
            <a:off x="502920" y="1051560"/>
            <a:ext cx="11155680" cy="274320"/>
          </a:xfrm>
          <a:prstGeom prst="rect">
            <a:avLst/>
          </a:prstGeom>
          <a:noFill/>
          <a:ln/>
        </p:spPr>
        <p:txBody>
          <a:bodyPr wrap="square" lIns="0" tIns="0" rIns="0" bIns="0" rtlCol="0" anchor="ctr"/>
          <a:lstStyle/>
          <a:p>
            <a:pPr indent="0" marL="0">
              <a:buNone/>
            </a:pPr>
            <a:r>
              <a:rPr lang="en-US" sz="1500" dirty="0">
                <a:solidFill>
                  <a:srgbClr val="5F6368"/>
                </a:solidFill>
                <a:latin typeface="Arial" pitchFamily="34" charset="0"/>
                <a:ea typeface="Arial" pitchFamily="34" charset="-122"/>
                <a:cs typeface="Arial" pitchFamily="34" charset="-120"/>
              </a:rPr>
              <a:t>Google returns 2 to 3 candidates. We do not invent new roads.</a:t>
            </a:r>
            <a:endParaRPr lang="en-US" sz="1500" dirty="0"/>
          </a:p>
        </p:txBody>
      </p:sp>
      <p:sp>
        <p:nvSpPr>
          <p:cNvPr id="5" name="Shape 3"/>
          <p:cNvSpPr/>
          <p:nvPr/>
        </p:nvSpPr>
        <p:spPr>
          <a:xfrm>
            <a:off x="502920" y="1417320"/>
            <a:ext cx="2743200" cy="1234440"/>
          </a:xfrm>
          <a:prstGeom prst="rect">
            <a:avLst/>
          </a:prstGeom>
          <a:solidFill>
            <a:srgbClr val="FFFFFF"/>
          </a:solidFill>
          <a:ln w="12700">
            <a:solidFill>
              <a:srgbClr val="DADCE0"/>
            </a:solidFill>
            <a:prstDash val="solid"/>
          </a:ln>
        </p:spPr>
      </p:sp>
      <p:sp>
        <p:nvSpPr>
          <p:cNvPr id="6" name="Text 4"/>
          <p:cNvSpPr/>
          <p:nvPr/>
        </p:nvSpPr>
        <p:spPr>
          <a:xfrm>
            <a:off x="640080" y="1536192"/>
            <a:ext cx="2468880" cy="292608"/>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ETA</a:t>
            </a:r>
            <a:endParaRPr lang="en-US" sz="1600" dirty="0"/>
          </a:p>
        </p:txBody>
      </p:sp>
      <p:sp>
        <p:nvSpPr>
          <p:cNvPr id="7" name="Text 5"/>
          <p:cNvSpPr/>
          <p:nvPr/>
        </p:nvSpPr>
        <p:spPr>
          <a:xfrm>
            <a:off x="640080" y="1874520"/>
            <a:ext cx="2468880" cy="640080"/>
          </a:xfrm>
          <a:prstGeom prst="rect">
            <a:avLst/>
          </a:prstGeom>
          <a:noFill/>
          <a:ln/>
        </p:spPr>
        <p:txBody>
          <a:bodyPr wrap="square" lIns="0" tIns="0" rIns="0" bIns="0" rtlCol="0" anchor="ctr"/>
          <a:lstStyle/>
          <a:p>
            <a:pPr indent="0" marL="0">
              <a:buNone/>
            </a:pPr>
            <a:r>
              <a:rPr lang="en-US" sz="1300" dirty="0">
                <a:solidFill>
                  <a:srgbClr val="5F6368"/>
                </a:solidFill>
                <a:latin typeface="Arial" pitchFamily="34" charset="0"/>
                <a:ea typeface="Arial" pitchFamily="34" charset="-122"/>
                <a:cs typeface="Arial" pitchFamily="34" charset="-120"/>
              </a:rPr>
              <a:t>Slower than the fastest option raises the penalty</a:t>
            </a:r>
            <a:endParaRPr lang="en-US" sz="1300" dirty="0"/>
          </a:p>
        </p:txBody>
      </p:sp>
      <p:sp>
        <p:nvSpPr>
          <p:cNvPr id="8" name="Shape 6"/>
          <p:cNvSpPr/>
          <p:nvPr/>
        </p:nvSpPr>
        <p:spPr>
          <a:xfrm>
            <a:off x="3383280" y="1417320"/>
            <a:ext cx="2743200" cy="1234440"/>
          </a:xfrm>
          <a:prstGeom prst="rect">
            <a:avLst/>
          </a:prstGeom>
          <a:solidFill>
            <a:srgbClr val="FFFFFF"/>
          </a:solidFill>
          <a:ln w="12700">
            <a:solidFill>
              <a:srgbClr val="DADCE0"/>
            </a:solidFill>
            <a:prstDash val="solid"/>
          </a:ln>
        </p:spPr>
      </p:sp>
      <p:sp>
        <p:nvSpPr>
          <p:cNvPr id="9" name="Text 7"/>
          <p:cNvSpPr/>
          <p:nvPr/>
        </p:nvSpPr>
        <p:spPr>
          <a:xfrm>
            <a:off x="3520440" y="1536192"/>
            <a:ext cx="2468880" cy="292608"/>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Distance</a:t>
            </a:r>
            <a:endParaRPr lang="en-US" sz="1600" dirty="0"/>
          </a:p>
        </p:txBody>
      </p:sp>
      <p:sp>
        <p:nvSpPr>
          <p:cNvPr id="10" name="Text 8"/>
          <p:cNvSpPr/>
          <p:nvPr/>
        </p:nvSpPr>
        <p:spPr>
          <a:xfrm>
            <a:off x="3520440" y="1874520"/>
            <a:ext cx="2468880" cy="640080"/>
          </a:xfrm>
          <a:prstGeom prst="rect">
            <a:avLst/>
          </a:prstGeom>
          <a:noFill/>
          <a:ln/>
        </p:spPr>
        <p:txBody>
          <a:bodyPr wrap="square" lIns="0" tIns="0" rIns="0" bIns="0" rtlCol="0" anchor="ctr"/>
          <a:lstStyle/>
          <a:p>
            <a:pPr indent="0" marL="0">
              <a:buNone/>
            </a:pPr>
            <a:r>
              <a:rPr lang="en-US" sz="1300" dirty="0">
                <a:solidFill>
                  <a:srgbClr val="5F6368"/>
                </a:solidFill>
                <a:latin typeface="Arial" pitchFamily="34" charset="0"/>
                <a:ea typeface="Arial" pitchFamily="34" charset="-122"/>
                <a:cs typeface="Arial" pitchFamily="34" charset="-120"/>
              </a:rPr>
              <a:t>Compared across the same request</a:t>
            </a:r>
            <a:endParaRPr lang="en-US" sz="1300" dirty="0"/>
          </a:p>
        </p:txBody>
      </p:sp>
      <p:sp>
        <p:nvSpPr>
          <p:cNvPr id="11" name="Shape 9"/>
          <p:cNvSpPr/>
          <p:nvPr/>
        </p:nvSpPr>
        <p:spPr>
          <a:xfrm>
            <a:off x="6263640" y="1417320"/>
            <a:ext cx="2743200" cy="1234440"/>
          </a:xfrm>
          <a:prstGeom prst="rect">
            <a:avLst/>
          </a:prstGeom>
          <a:solidFill>
            <a:srgbClr val="FFFFFF"/>
          </a:solidFill>
          <a:ln w="12700">
            <a:solidFill>
              <a:srgbClr val="DADCE0"/>
            </a:solidFill>
            <a:prstDash val="solid"/>
          </a:ln>
        </p:spPr>
      </p:sp>
      <p:sp>
        <p:nvSpPr>
          <p:cNvPr id="12" name="Text 10"/>
          <p:cNvSpPr/>
          <p:nvPr/>
        </p:nvSpPr>
        <p:spPr>
          <a:xfrm>
            <a:off x="6400800" y="1536192"/>
            <a:ext cx="2468880" cy="292608"/>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Traffic</a:t>
            </a:r>
            <a:endParaRPr lang="en-US" sz="1600" dirty="0"/>
          </a:p>
        </p:txBody>
      </p:sp>
      <p:sp>
        <p:nvSpPr>
          <p:cNvPr id="13" name="Text 11"/>
          <p:cNvSpPr/>
          <p:nvPr/>
        </p:nvSpPr>
        <p:spPr>
          <a:xfrm>
            <a:off x="6400800" y="1874520"/>
            <a:ext cx="2468880" cy="640080"/>
          </a:xfrm>
          <a:prstGeom prst="rect">
            <a:avLst/>
          </a:prstGeom>
          <a:noFill/>
          <a:ln/>
        </p:spPr>
        <p:txBody>
          <a:bodyPr wrap="square" lIns="0" tIns="0" rIns="0" bIns="0" rtlCol="0" anchor="ctr"/>
          <a:lstStyle/>
          <a:p>
            <a:pPr indent="0" marL="0">
              <a:buNone/>
            </a:pPr>
            <a:r>
              <a:rPr lang="en-US" sz="1300" dirty="0">
                <a:solidFill>
                  <a:srgbClr val="5F6368"/>
                </a:solidFill>
                <a:latin typeface="Arial" pitchFamily="34" charset="0"/>
                <a:ea typeface="Arial" pitchFamily="34" charset="-122"/>
                <a:cs typeface="Arial" pitchFamily="34" charset="-120"/>
              </a:rPr>
              <a:t>Low / medium / high from the provider</a:t>
            </a:r>
            <a:endParaRPr lang="en-US" sz="1300" dirty="0"/>
          </a:p>
        </p:txBody>
      </p:sp>
      <p:sp>
        <p:nvSpPr>
          <p:cNvPr id="14" name="Shape 12"/>
          <p:cNvSpPr/>
          <p:nvPr/>
        </p:nvSpPr>
        <p:spPr>
          <a:xfrm>
            <a:off x="9144000" y="1417320"/>
            <a:ext cx="2743200" cy="1234440"/>
          </a:xfrm>
          <a:prstGeom prst="rect">
            <a:avLst/>
          </a:prstGeom>
          <a:solidFill>
            <a:srgbClr val="FFFFFF"/>
          </a:solidFill>
          <a:ln w="12700">
            <a:solidFill>
              <a:srgbClr val="DADCE0"/>
            </a:solidFill>
            <a:prstDash val="solid"/>
          </a:ln>
        </p:spPr>
      </p:sp>
      <p:sp>
        <p:nvSpPr>
          <p:cNvPr id="15" name="Text 13"/>
          <p:cNvSpPr/>
          <p:nvPr/>
        </p:nvSpPr>
        <p:spPr>
          <a:xfrm>
            <a:off x="9281160" y="1536192"/>
            <a:ext cx="2468880" cy="292608"/>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Road status</a:t>
            </a:r>
            <a:endParaRPr lang="en-US" sz="1600" dirty="0"/>
          </a:p>
        </p:txBody>
      </p:sp>
      <p:sp>
        <p:nvSpPr>
          <p:cNvPr id="16" name="Text 14"/>
          <p:cNvSpPr/>
          <p:nvPr/>
        </p:nvSpPr>
        <p:spPr>
          <a:xfrm>
            <a:off x="9281160" y="1874520"/>
            <a:ext cx="2468880" cy="640080"/>
          </a:xfrm>
          <a:prstGeom prst="rect">
            <a:avLst/>
          </a:prstGeom>
          <a:noFill/>
          <a:ln/>
        </p:spPr>
        <p:txBody>
          <a:bodyPr wrap="square" lIns="0" tIns="0" rIns="0" bIns="0" rtlCol="0" anchor="ctr"/>
          <a:lstStyle/>
          <a:p>
            <a:pPr indent="0" marL="0">
              <a:buNone/>
            </a:pPr>
            <a:r>
              <a:rPr lang="en-US" sz="1300" dirty="0">
                <a:solidFill>
                  <a:srgbClr val="5F6368"/>
                </a:solidFill>
                <a:latin typeface="Arial" pitchFamily="34" charset="0"/>
                <a:ea typeface="Arial" pitchFamily="34" charset="-122"/>
                <a:cs typeface="Arial" pitchFamily="34" charset="-120"/>
              </a:rPr>
              <a:t>Our reports: clear, congested, blocked</a:t>
            </a:r>
            <a:endParaRPr lang="en-US" sz="1300" dirty="0"/>
          </a:p>
        </p:txBody>
      </p:sp>
      <p:sp>
        <p:nvSpPr>
          <p:cNvPr id="17" name="Shape 15"/>
          <p:cNvSpPr/>
          <p:nvPr/>
        </p:nvSpPr>
        <p:spPr>
          <a:xfrm>
            <a:off x="502920" y="2834640"/>
            <a:ext cx="5760720" cy="3383280"/>
          </a:xfrm>
          <a:prstGeom prst="rect">
            <a:avLst/>
          </a:prstGeom>
          <a:solidFill>
            <a:srgbClr val="FFFFFF"/>
          </a:solidFill>
          <a:ln w="12700">
            <a:solidFill>
              <a:srgbClr val="DADCE0"/>
            </a:solidFill>
            <a:prstDash val="solid"/>
          </a:ln>
        </p:spPr>
      </p:sp>
      <p:sp>
        <p:nvSpPr>
          <p:cNvPr id="18" name="Text 16"/>
          <p:cNvSpPr/>
          <p:nvPr/>
        </p:nvSpPr>
        <p:spPr>
          <a:xfrm>
            <a:off x="685800" y="2971800"/>
            <a:ext cx="5394960" cy="274320"/>
          </a:xfrm>
          <a:prstGeom prst="rect">
            <a:avLst/>
          </a:prstGeom>
          <a:noFill/>
          <a:ln/>
        </p:spPr>
        <p:txBody>
          <a:bodyPr wrap="square" lIns="0" tIns="0" rIns="0" bIns="0" rtlCol="0" anchor="ctr"/>
          <a:lstStyle/>
          <a:p>
            <a:pPr indent="0" marL="0">
              <a:buNone/>
            </a:pPr>
            <a:r>
              <a:rPr lang="en-US" sz="1400" b="1" dirty="0">
                <a:solidFill>
                  <a:srgbClr val="5F6368"/>
                </a:solidFill>
                <a:latin typeface="Arial" pitchFamily="34" charset="0"/>
                <a:ea typeface="Arial" pitchFamily="34" charset="-122"/>
                <a:cs typeface="Arial" pitchFamily="34" charset="-120"/>
              </a:rPr>
              <a:t>Penalty, then weights</a:t>
            </a:r>
            <a:endParaRPr lang="en-US" sz="1400" dirty="0"/>
          </a:p>
        </p:txBody>
      </p:sp>
      <p:sp>
        <p:nvSpPr>
          <p:cNvPr id="19" name="Text 17"/>
          <p:cNvSpPr/>
          <p:nvPr/>
        </p:nvSpPr>
        <p:spPr>
          <a:xfrm>
            <a:off x="685800" y="3291840"/>
            <a:ext cx="5394960" cy="685800"/>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score  =  weighted mix of</a:t>
            </a:r>
            <a:endParaRPr lang="en-US" sz="1800" dirty="0"/>
          </a:p>
          <a:p>
            <a:pPr indent="0" marL="0">
              <a:buNone/>
            </a:pPr>
            <a:r>
              <a:rPr lang="en-US" sz="1800" b="1" dirty="0">
                <a:solidFill>
                  <a:srgbClr val="202124"/>
                </a:solidFill>
                <a:latin typeface="Arial" pitchFamily="34" charset="0"/>
                <a:ea typeface="Arial" pitchFamily="34" charset="-122"/>
                <a:cs typeface="Arial" pitchFamily="34" charset="-120"/>
              </a:rPr>
              <a:t>ETA + Distance + Traffic + Road</a:t>
            </a:r>
            <a:endParaRPr lang="en-US" sz="1800" dirty="0"/>
          </a:p>
        </p:txBody>
      </p:sp>
      <p:sp>
        <p:nvSpPr>
          <p:cNvPr id="20" name="Text 18"/>
          <p:cNvSpPr/>
          <p:nvPr/>
        </p:nvSpPr>
        <p:spPr>
          <a:xfrm>
            <a:off x="685800" y="4069080"/>
            <a:ext cx="5394960" cy="1051560"/>
          </a:xfrm>
          <a:prstGeom prst="rect">
            <a:avLst/>
          </a:prstGeom>
          <a:noFill/>
          <a:ln/>
        </p:spPr>
        <p:txBody>
          <a:bodyPr wrap="square" lIns="0" tIns="0" rIns="0" bIns="0" rtlCol="0" anchor="ctr"/>
          <a:lstStyle/>
          <a:p>
            <a:pPr indent="0" marL="0">
              <a:buNone/>
            </a:pPr>
            <a:r>
              <a:rPr lang="en-US" sz="1500" dirty="0">
                <a:solidFill>
                  <a:srgbClr val="202124"/>
                </a:solidFill>
                <a:latin typeface="Arial" pitchFamily="34" charset="0"/>
                <a:ea typeface="Arial" pitchFamily="34" charset="-122"/>
                <a:cs typeface="Arial" pitchFamily="34" charset="-120"/>
              </a:rPr>
              <a:t>LOWEST penalty wins.</a:t>
            </a:r>
            <a:endParaRPr lang="en-US" sz="1500" dirty="0"/>
          </a:p>
          <a:p>
            <a:pPr indent="0" marL="0">
              <a:buNone/>
            </a:pPr>
            <a:r>
              <a:rPr lang="en-US" sz="1500" dirty="0">
                <a:solidFill>
                  <a:srgbClr val="202124"/>
                </a:solidFill>
                <a:latin typeface="Arial" pitchFamily="34" charset="0"/>
                <a:ea typeface="Arial" pitchFamily="34" charset="-122"/>
                <a:cs typeface="Arial" pitchFamily="34" charset="-120"/>
              </a:rPr>
              <a:t>BLOCKED is not scored. It is removed.</a:t>
            </a:r>
            <a:endParaRPr lang="en-US" sz="1500" dirty="0"/>
          </a:p>
          <a:p>
            <a:pPr indent="0" marL="0">
              <a:buNone/>
            </a:pPr>
            <a:r>
              <a:rPr lang="en-US" sz="1500" dirty="0">
                <a:solidFill>
                  <a:srgbClr val="202124"/>
                </a:solidFill>
                <a:latin typeface="Arial" pitchFamily="34" charset="0"/>
                <a:ea typeface="Arial" pitchFamily="34" charset="-122"/>
                <a:cs typeface="Arial" pitchFamily="34" charset="-120"/>
              </a:rPr>
              <a:t>If every corridor is blocked: no suitable route.</a:t>
            </a:r>
            <a:endParaRPr lang="en-US" sz="1500" dirty="0"/>
          </a:p>
        </p:txBody>
      </p:sp>
      <p:sp>
        <p:nvSpPr>
          <p:cNvPr id="21" name="Text 19"/>
          <p:cNvSpPr/>
          <p:nvPr/>
        </p:nvSpPr>
        <p:spPr>
          <a:xfrm>
            <a:off x="685800" y="5212080"/>
            <a:ext cx="5394960" cy="777240"/>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Critical incidents weight time at 0.55. A standard job leans more on distance and road status.</a:t>
            </a:r>
            <a:endParaRPr lang="en-US" sz="1400" dirty="0"/>
          </a:p>
        </p:txBody>
      </p:sp>
      <p:sp>
        <p:nvSpPr>
          <p:cNvPr id="22" name="Shape 20"/>
          <p:cNvSpPr/>
          <p:nvPr/>
        </p:nvSpPr>
        <p:spPr>
          <a:xfrm>
            <a:off x="6446520" y="2834640"/>
            <a:ext cx="5257800" cy="3383280"/>
          </a:xfrm>
          <a:prstGeom prst="rect">
            <a:avLst/>
          </a:prstGeom>
          <a:solidFill>
            <a:srgbClr val="FFFFFF"/>
          </a:solidFill>
          <a:ln w="12700">
            <a:solidFill>
              <a:srgbClr val="DADCE0"/>
            </a:solidFill>
            <a:prstDash val="solid"/>
          </a:ln>
        </p:spPr>
      </p:sp>
      <p:sp>
        <p:nvSpPr>
          <p:cNvPr id="23" name="Text 21"/>
          <p:cNvSpPr/>
          <p:nvPr/>
        </p:nvSpPr>
        <p:spPr>
          <a:xfrm>
            <a:off x="6629400" y="2971800"/>
            <a:ext cx="4892040" cy="274320"/>
          </a:xfrm>
          <a:prstGeom prst="rect">
            <a:avLst/>
          </a:prstGeom>
          <a:noFill/>
          <a:ln/>
        </p:spPr>
        <p:txBody>
          <a:bodyPr wrap="square" lIns="0" tIns="0" rIns="0" bIns="0" rtlCol="0" anchor="ctr"/>
          <a:lstStyle/>
          <a:p>
            <a:pPr indent="0" marL="0">
              <a:buNone/>
            </a:pPr>
            <a:r>
              <a:rPr lang="en-US" sz="1400" b="1" dirty="0">
                <a:solidFill>
                  <a:srgbClr val="5F6368"/>
                </a:solidFill>
                <a:latin typeface="Arial" pitchFamily="34" charset="0"/>
                <a:ea typeface="Arial" pitchFamily="34" charset="-122"/>
                <a:cs typeface="Arial" pitchFamily="34" charset="-120"/>
              </a:rPr>
              <a:t>Spoken example (critical)</a:t>
            </a:r>
            <a:endParaRPr lang="en-US" sz="1400" dirty="0"/>
          </a:p>
        </p:txBody>
      </p:sp>
      <p:sp>
        <p:nvSpPr>
          <p:cNvPr id="24" name="Text 22"/>
          <p:cNvSpPr/>
          <p:nvPr/>
        </p:nvSpPr>
        <p:spPr>
          <a:xfrm>
            <a:off x="6629400" y="3383280"/>
            <a:ext cx="4892040" cy="256032"/>
          </a:xfrm>
          <a:prstGeom prst="rect">
            <a:avLst/>
          </a:prstGeom>
          <a:noFill/>
          <a:ln/>
        </p:spPr>
        <p:txBody>
          <a:bodyPr wrap="square" lIns="0" tIns="0" rIns="0" bIns="0" rtlCol="0" anchor="ctr"/>
          <a:lstStyle/>
          <a:p>
            <a:pPr indent="0" marL="0">
              <a:buNone/>
            </a:pPr>
            <a:r>
              <a:rPr lang="en-US" sz="1300" dirty="0">
                <a:solidFill>
                  <a:srgbClr val="202124"/>
                </a:solidFill>
                <a:latin typeface="Arial" pitchFamily="34" charset="0"/>
                <a:ea typeface="Arial" pitchFamily="34" charset="-122"/>
                <a:cs typeface="Arial" pitchFamily="34" charset="-120"/>
              </a:rPr>
              <a:t>Route A   10 min   heavy traffic   CLEAR</a:t>
            </a:r>
            <a:endParaRPr lang="en-US" sz="1300" dirty="0"/>
          </a:p>
        </p:txBody>
      </p:sp>
      <p:sp>
        <p:nvSpPr>
          <p:cNvPr id="25" name="Shape 23"/>
          <p:cNvSpPr/>
          <p:nvPr/>
        </p:nvSpPr>
        <p:spPr>
          <a:xfrm>
            <a:off x="6629400" y="3703320"/>
            <a:ext cx="4206240" cy="292608"/>
          </a:xfrm>
          <a:prstGeom prst="rect">
            <a:avLst/>
          </a:prstGeom>
          <a:solidFill>
            <a:srgbClr val="1A73E8"/>
          </a:solidFill>
          <a:ln w="12700">
            <a:solidFill>
              <a:srgbClr val="1A73E8"/>
            </a:solidFill>
            <a:prstDash val="solid"/>
          </a:ln>
        </p:spPr>
      </p:sp>
      <p:sp>
        <p:nvSpPr>
          <p:cNvPr id="26" name="Text 24"/>
          <p:cNvSpPr/>
          <p:nvPr/>
        </p:nvSpPr>
        <p:spPr>
          <a:xfrm>
            <a:off x="10927080" y="3703320"/>
            <a:ext cx="640080" cy="292608"/>
          </a:xfrm>
          <a:prstGeom prst="rect">
            <a:avLst/>
          </a:prstGeom>
          <a:noFill/>
          <a:ln/>
        </p:spPr>
        <p:txBody>
          <a:bodyPr wrap="square" lIns="0" tIns="0" rIns="0" bIns="0" rtlCol="0" anchor="ctr"/>
          <a:lstStyle/>
          <a:p>
            <a:pPr indent="0" marL="0">
              <a:buNone/>
            </a:pPr>
            <a:r>
              <a:rPr lang="en-US" sz="1100" b="1" dirty="0">
                <a:solidFill>
                  <a:srgbClr val="1A73E8"/>
                </a:solidFill>
                <a:latin typeface="Arial" pitchFamily="34" charset="0"/>
                <a:ea typeface="Arial" pitchFamily="34" charset="-122"/>
                <a:cs typeface="Arial" pitchFamily="34" charset="-120"/>
              </a:rPr>
              <a:t>Selected</a:t>
            </a:r>
            <a:endParaRPr lang="en-US" sz="1100" dirty="0"/>
          </a:p>
        </p:txBody>
      </p:sp>
      <p:sp>
        <p:nvSpPr>
          <p:cNvPr id="27" name="Text 25"/>
          <p:cNvSpPr/>
          <p:nvPr/>
        </p:nvSpPr>
        <p:spPr>
          <a:xfrm>
            <a:off x="6629400" y="4160520"/>
            <a:ext cx="4892040" cy="256032"/>
          </a:xfrm>
          <a:prstGeom prst="rect">
            <a:avLst/>
          </a:prstGeom>
          <a:noFill/>
          <a:ln/>
        </p:spPr>
        <p:txBody>
          <a:bodyPr wrap="square" lIns="0" tIns="0" rIns="0" bIns="0" rtlCol="0" anchor="ctr"/>
          <a:lstStyle/>
          <a:p>
            <a:pPr indent="0" marL="0">
              <a:buNone/>
            </a:pPr>
            <a:r>
              <a:rPr lang="en-US" sz="1300" dirty="0">
                <a:solidFill>
                  <a:srgbClr val="202124"/>
                </a:solidFill>
                <a:latin typeface="Arial" pitchFamily="34" charset="0"/>
                <a:ea typeface="Arial" pitchFamily="34" charset="-122"/>
                <a:cs typeface="Arial" pitchFamily="34" charset="-120"/>
              </a:rPr>
              <a:t>Route B   11 min   clearer   CLEAR</a:t>
            </a:r>
            <a:endParaRPr lang="en-US" sz="1300" dirty="0"/>
          </a:p>
        </p:txBody>
      </p:sp>
      <p:sp>
        <p:nvSpPr>
          <p:cNvPr id="28" name="Shape 26"/>
          <p:cNvSpPr/>
          <p:nvPr/>
        </p:nvSpPr>
        <p:spPr>
          <a:xfrm>
            <a:off x="6629400" y="4480560"/>
            <a:ext cx="3657600" cy="292608"/>
          </a:xfrm>
          <a:prstGeom prst="rect">
            <a:avLst/>
          </a:prstGeom>
          <a:solidFill>
            <a:srgbClr val="EEF1F4"/>
          </a:solidFill>
          <a:ln w="12700">
            <a:solidFill>
              <a:srgbClr val="DADCE0"/>
            </a:solidFill>
            <a:prstDash val="solid"/>
          </a:ln>
        </p:spPr>
      </p:sp>
      <p:sp>
        <p:nvSpPr>
          <p:cNvPr id="29" name="Text 27"/>
          <p:cNvSpPr/>
          <p:nvPr/>
        </p:nvSpPr>
        <p:spPr>
          <a:xfrm>
            <a:off x="6629400" y="4937760"/>
            <a:ext cx="4892040" cy="1051560"/>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Time matters most on a critical job, so A still wins if it is not blocked. If A is blocked, A is thrown out and B wins.</a:t>
            </a:r>
            <a:endParaRPr lang="en-US" sz="1400" dirty="0"/>
          </a:p>
        </p:txBody>
      </p:sp>
      <p:sp>
        <p:nvSpPr>
          <p:cNvPr id="30" name="Shape 28"/>
          <p:cNvSpPr/>
          <p:nvPr/>
        </p:nvSpPr>
        <p:spPr>
          <a:xfrm>
            <a:off x="0" y="6656832"/>
            <a:ext cx="12191695" cy="201168"/>
          </a:xfrm>
          <a:prstGeom prst="rect">
            <a:avLst/>
          </a:prstGeom>
          <a:solidFill>
            <a:srgbClr val="EEF1F4"/>
          </a:solidFill>
          <a:ln w="12700">
            <a:solidFill>
              <a:srgbClr val="EEF1F4"/>
            </a:solidFill>
            <a:prstDash val="solid"/>
          </a:ln>
        </p:spPr>
      </p:sp>
      <p:sp>
        <p:nvSpPr>
          <p:cNvPr id="31" name="Text 29"/>
          <p:cNvSpPr/>
          <p:nvPr/>
        </p:nvSpPr>
        <p:spPr>
          <a:xfrm>
            <a:off x="502920" y="6656832"/>
            <a:ext cx="5486400" cy="20116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RapidRoute  ·  RIH-PS-011</a:t>
            </a:r>
            <a:endParaRPr lang="en-US" sz="1000" dirty="0"/>
          </a:p>
        </p:txBody>
      </p:sp>
      <p:sp>
        <p:nvSpPr>
          <p:cNvPr id="32" name="Text 30"/>
          <p:cNvSpPr/>
          <p:nvPr/>
        </p:nvSpPr>
        <p:spPr>
          <a:xfrm>
            <a:off x="11338560" y="6656832"/>
            <a:ext cx="457200" cy="201168"/>
          </a:xfrm>
          <a:prstGeom prst="rect">
            <a:avLst/>
          </a:prstGeom>
          <a:noFill/>
          <a:ln/>
        </p:spPr>
        <p:txBody>
          <a:bodyPr wrap="square" lIns="0" tIns="0" rIns="0" bIns="0" rtlCol="0" anchor="ctr"/>
          <a:lstStyle/>
          <a:p>
            <a:pPr algn="r" indent="0" marL="0">
              <a:buNone/>
            </a:pPr>
            <a:r>
              <a:rPr lang="en-US" sz="1000" dirty="0">
                <a:solidFill>
                  <a:srgbClr val="5F6368"/>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02920" y="201168"/>
            <a:ext cx="7315200" cy="201168"/>
          </a:xfrm>
          <a:prstGeom prst="rect">
            <a:avLst/>
          </a:prstGeom>
          <a:noFill/>
          <a:ln/>
        </p:spPr>
        <p:txBody>
          <a:bodyPr wrap="square" lIns="0" tIns="0" rIns="0" bIns="0" rtlCol="0" anchor="ctr"/>
          <a:lstStyle/>
          <a:p>
            <a:pPr indent="0" marL="0">
              <a:buNone/>
            </a:pPr>
            <a:r>
              <a:rPr lang="en-US" sz="1100" b="1" spc="140" kern="0" dirty="0">
                <a:solidFill>
                  <a:srgbClr val="5F6368"/>
                </a:solidFill>
                <a:latin typeface="Arial" pitchFamily="34" charset="0"/>
                <a:ea typeface="Arial" pitchFamily="34" charset="-122"/>
                <a:cs typeface="Arial" pitchFamily="34" charset="-120"/>
              </a:rPr>
              <a:t>CORE DEMO MOMENT</a:t>
            </a:r>
            <a:endParaRPr lang="en-US" sz="1100" dirty="0"/>
          </a:p>
        </p:txBody>
      </p:sp>
      <p:sp>
        <p:nvSpPr>
          <p:cNvPr id="3" name="Text 1"/>
          <p:cNvSpPr/>
          <p:nvPr/>
        </p:nvSpPr>
        <p:spPr>
          <a:xfrm>
            <a:off x="502920" y="438912"/>
            <a:ext cx="11155680" cy="457200"/>
          </a:xfrm>
          <a:prstGeom prst="rect">
            <a:avLst/>
          </a:prstGeom>
          <a:noFill/>
          <a:ln/>
        </p:spPr>
        <p:txBody>
          <a:bodyPr wrap="square" lIns="0" tIns="0" rIns="0" bIns="0" rtlCol="0" anchor="ctr"/>
          <a:lstStyle/>
          <a:p>
            <a:pPr indent="0" marL="0">
              <a:buNone/>
            </a:pPr>
            <a:r>
              <a:rPr lang="en-US" sz="2800" b="1" dirty="0">
                <a:solidFill>
                  <a:srgbClr val="202124"/>
                </a:solidFill>
                <a:latin typeface="Arial" pitchFamily="34" charset="0"/>
                <a:ea typeface="Arial" pitchFamily="34" charset="-122"/>
                <a:cs typeface="Arial" pitchFamily="34" charset="-120"/>
              </a:rPr>
              <a:t>Blocking a road changes the decision.</a:t>
            </a:r>
            <a:endParaRPr lang="en-US" sz="2800" dirty="0"/>
          </a:p>
        </p:txBody>
      </p:sp>
      <p:sp>
        <p:nvSpPr>
          <p:cNvPr id="4" name="Text 2"/>
          <p:cNvSpPr/>
          <p:nvPr/>
        </p:nvSpPr>
        <p:spPr>
          <a:xfrm>
            <a:off x="502920" y="1097280"/>
            <a:ext cx="5394960" cy="274320"/>
          </a:xfrm>
          <a:prstGeom prst="rect">
            <a:avLst/>
          </a:prstGeom>
          <a:noFill/>
          <a:ln/>
        </p:spPr>
        <p:txBody>
          <a:bodyPr wrap="square" lIns="0" tIns="0" rIns="0" bIns="0" rtlCol="0" anchor="ctr"/>
          <a:lstStyle/>
          <a:p>
            <a:pPr indent="0" marL="0">
              <a:buNone/>
            </a:pPr>
            <a:r>
              <a:rPr lang="en-US" sz="1300" b="1" spc="140" kern="0" dirty="0">
                <a:solidFill>
                  <a:srgbClr val="5F6368"/>
                </a:solidFill>
                <a:latin typeface="Arial" pitchFamily="34" charset="0"/>
                <a:ea typeface="Arial" pitchFamily="34" charset="-122"/>
                <a:cs typeface="Arial" pitchFamily="34" charset="-120"/>
              </a:rPr>
              <a:t>BEFORE</a:t>
            </a:r>
            <a:endParaRPr lang="en-US" sz="1300" dirty="0"/>
          </a:p>
        </p:txBody>
      </p:sp>
      <p:sp>
        <p:nvSpPr>
          <p:cNvPr id="5" name="Text 3"/>
          <p:cNvSpPr/>
          <p:nvPr/>
        </p:nvSpPr>
        <p:spPr>
          <a:xfrm>
            <a:off x="6309360" y="1097280"/>
            <a:ext cx="5394960" cy="274320"/>
          </a:xfrm>
          <a:prstGeom prst="rect">
            <a:avLst/>
          </a:prstGeom>
          <a:noFill/>
          <a:ln/>
        </p:spPr>
        <p:txBody>
          <a:bodyPr wrap="square" lIns="0" tIns="0" rIns="0" bIns="0" rtlCol="0" anchor="ctr"/>
          <a:lstStyle/>
          <a:p>
            <a:pPr indent="0" marL="0">
              <a:buNone/>
            </a:pPr>
            <a:r>
              <a:rPr lang="en-US" sz="1300" b="1" spc="140" kern="0" dirty="0">
                <a:solidFill>
                  <a:srgbClr val="D93025"/>
                </a:solidFill>
                <a:latin typeface="Arial" pitchFamily="34" charset="0"/>
                <a:ea typeface="Arial" pitchFamily="34" charset="-122"/>
                <a:cs typeface="Arial" pitchFamily="34" charset="-120"/>
              </a:rPr>
              <a:t>AFTER ADMIN BLOCK</a:t>
            </a:r>
            <a:endParaRPr lang="en-US" sz="1300" dirty="0"/>
          </a:p>
        </p:txBody>
      </p:sp>
      <p:sp>
        <p:nvSpPr>
          <p:cNvPr id="6" name="Shape 4"/>
          <p:cNvSpPr/>
          <p:nvPr/>
        </p:nvSpPr>
        <p:spPr>
          <a:xfrm>
            <a:off x="502920" y="1417320"/>
            <a:ext cx="5394960" cy="4800600"/>
          </a:xfrm>
          <a:prstGeom prst="rect">
            <a:avLst/>
          </a:prstGeom>
          <a:solidFill>
            <a:srgbClr val="FFFFFF"/>
          </a:solidFill>
          <a:ln w="12700">
            <a:solidFill>
              <a:srgbClr val="DADCE0"/>
            </a:solidFill>
            <a:prstDash val="solid"/>
          </a:ln>
        </p:spPr>
      </p:sp>
      <p:sp>
        <p:nvSpPr>
          <p:cNvPr id="7" name="Shape 5"/>
          <p:cNvSpPr/>
          <p:nvPr/>
        </p:nvSpPr>
        <p:spPr>
          <a:xfrm>
            <a:off x="731520" y="1691640"/>
            <a:ext cx="4937760" cy="1874520"/>
          </a:xfrm>
          <a:prstGeom prst="rect">
            <a:avLst/>
          </a:prstGeom>
          <a:solidFill>
            <a:srgbClr val="E8F0FE"/>
          </a:solidFill>
          <a:ln w="15875">
            <a:solidFill>
              <a:srgbClr val="1A73E8"/>
            </a:solidFill>
            <a:prstDash val="solid"/>
          </a:ln>
        </p:spPr>
      </p:sp>
      <p:sp>
        <p:nvSpPr>
          <p:cNvPr id="8" name="Text 6"/>
          <p:cNvSpPr/>
          <p:nvPr/>
        </p:nvSpPr>
        <p:spPr>
          <a:xfrm>
            <a:off x="914400" y="1828800"/>
            <a:ext cx="2926080" cy="292608"/>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Route A</a:t>
            </a:r>
            <a:endParaRPr lang="en-US" sz="1800" dirty="0"/>
          </a:p>
        </p:txBody>
      </p:sp>
      <p:sp>
        <p:nvSpPr>
          <p:cNvPr id="9" name="Text 7"/>
          <p:cNvSpPr/>
          <p:nvPr/>
        </p:nvSpPr>
        <p:spPr>
          <a:xfrm>
            <a:off x="3794760" y="1847088"/>
            <a:ext cx="1737360" cy="256032"/>
          </a:xfrm>
          <a:prstGeom prst="rect">
            <a:avLst/>
          </a:prstGeom>
          <a:noFill/>
          <a:ln/>
        </p:spPr>
        <p:txBody>
          <a:bodyPr wrap="square" lIns="0" tIns="0" rIns="0" bIns="0" rtlCol="0" anchor="ctr"/>
          <a:lstStyle/>
          <a:p>
            <a:pPr algn="r" indent="0" marL="0">
              <a:buNone/>
            </a:pPr>
            <a:r>
              <a:rPr lang="en-US" sz="1100" b="1" dirty="0">
                <a:solidFill>
                  <a:srgbClr val="1A73E8"/>
                </a:solidFill>
                <a:latin typeface="Arial" pitchFamily="34" charset="0"/>
                <a:ea typeface="Arial" pitchFamily="34" charset="-122"/>
                <a:cs typeface="Arial" pitchFamily="34" charset="-120"/>
              </a:rPr>
              <a:t>RECOMMENDED</a:t>
            </a:r>
            <a:endParaRPr lang="en-US" sz="1100" dirty="0"/>
          </a:p>
        </p:txBody>
      </p:sp>
      <p:sp>
        <p:nvSpPr>
          <p:cNvPr id="10" name="Text 8"/>
          <p:cNvSpPr/>
          <p:nvPr/>
        </p:nvSpPr>
        <p:spPr>
          <a:xfrm>
            <a:off x="914400" y="2194560"/>
            <a:ext cx="4572000" cy="27432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10 min   ·   CLEAR</a:t>
            </a:r>
            <a:endParaRPr lang="en-US" sz="1600" dirty="0"/>
          </a:p>
        </p:txBody>
      </p:sp>
      <p:sp>
        <p:nvSpPr>
          <p:cNvPr id="11" name="Text 9"/>
          <p:cNvSpPr/>
          <p:nvPr/>
        </p:nvSpPr>
        <p:spPr>
          <a:xfrm>
            <a:off x="914400" y="2606040"/>
            <a:ext cx="4572000" cy="640080"/>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Eligible. Lowest penalty on this request.</a:t>
            </a:r>
            <a:endParaRPr lang="en-US" sz="1400" dirty="0"/>
          </a:p>
        </p:txBody>
      </p:sp>
      <p:sp>
        <p:nvSpPr>
          <p:cNvPr id="12" name="Shape 10"/>
          <p:cNvSpPr/>
          <p:nvPr/>
        </p:nvSpPr>
        <p:spPr>
          <a:xfrm>
            <a:off x="731520" y="3794760"/>
            <a:ext cx="4937760" cy="2057400"/>
          </a:xfrm>
          <a:prstGeom prst="rect">
            <a:avLst/>
          </a:prstGeom>
          <a:solidFill>
            <a:srgbClr val="FFFFFF"/>
          </a:solidFill>
          <a:ln w="12700">
            <a:solidFill>
              <a:srgbClr val="DADCE0"/>
            </a:solidFill>
            <a:prstDash val="solid"/>
          </a:ln>
        </p:spPr>
      </p:sp>
      <p:sp>
        <p:nvSpPr>
          <p:cNvPr id="13" name="Text 11"/>
          <p:cNvSpPr/>
          <p:nvPr/>
        </p:nvSpPr>
        <p:spPr>
          <a:xfrm>
            <a:off x="914400" y="3977640"/>
            <a:ext cx="4572000" cy="292608"/>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Route B</a:t>
            </a:r>
            <a:endParaRPr lang="en-US" sz="1800" dirty="0"/>
          </a:p>
        </p:txBody>
      </p:sp>
      <p:sp>
        <p:nvSpPr>
          <p:cNvPr id="14" name="Text 12"/>
          <p:cNvSpPr/>
          <p:nvPr/>
        </p:nvSpPr>
        <p:spPr>
          <a:xfrm>
            <a:off x="914400" y="4343400"/>
            <a:ext cx="4572000" cy="27432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12 min   ·   CLEAR</a:t>
            </a:r>
            <a:endParaRPr lang="en-US" sz="1600" dirty="0"/>
          </a:p>
        </p:txBody>
      </p:sp>
      <p:sp>
        <p:nvSpPr>
          <p:cNvPr id="15" name="Text 13"/>
          <p:cNvSpPr/>
          <p:nvPr/>
        </p:nvSpPr>
        <p:spPr>
          <a:xfrm>
            <a:off x="914400" y="4754880"/>
            <a:ext cx="4572000" cy="640080"/>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Alternative. Still eligible.</a:t>
            </a:r>
            <a:endParaRPr lang="en-US" sz="1400" dirty="0"/>
          </a:p>
        </p:txBody>
      </p:sp>
      <p:sp>
        <p:nvSpPr>
          <p:cNvPr id="16" name="Shape 14"/>
          <p:cNvSpPr/>
          <p:nvPr/>
        </p:nvSpPr>
        <p:spPr>
          <a:xfrm>
            <a:off x="6309360" y="1417320"/>
            <a:ext cx="5394960" cy="4800600"/>
          </a:xfrm>
          <a:prstGeom prst="rect">
            <a:avLst/>
          </a:prstGeom>
          <a:solidFill>
            <a:srgbClr val="FFFFFF"/>
          </a:solidFill>
          <a:ln w="12700">
            <a:solidFill>
              <a:srgbClr val="DADCE0"/>
            </a:solidFill>
            <a:prstDash val="solid"/>
          </a:ln>
        </p:spPr>
      </p:sp>
      <p:sp>
        <p:nvSpPr>
          <p:cNvPr id="17" name="Shape 15"/>
          <p:cNvSpPr/>
          <p:nvPr/>
        </p:nvSpPr>
        <p:spPr>
          <a:xfrm>
            <a:off x="6537960" y="1691640"/>
            <a:ext cx="4937760" cy="1874520"/>
          </a:xfrm>
          <a:prstGeom prst="rect">
            <a:avLst/>
          </a:prstGeom>
          <a:solidFill>
            <a:srgbClr val="FCE8E6"/>
          </a:solidFill>
          <a:ln w="15875">
            <a:solidFill>
              <a:srgbClr val="D93025"/>
            </a:solidFill>
            <a:prstDash val="solid"/>
          </a:ln>
        </p:spPr>
      </p:sp>
      <p:sp>
        <p:nvSpPr>
          <p:cNvPr id="18" name="Text 16"/>
          <p:cNvSpPr/>
          <p:nvPr/>
        </p:nvSpPr>
        <p:spPr>
          <a:xfrm>
            <a:off x="6720840" y="1828800"/>
            <a:ext cx="2926080" cy="292608"/>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Route A</a:t>
            </a:r>
            <a:endParaRPr lang="en-US" sz="1800" dirty="0"/>
          </a:p>
        </p:txBody>
      </p:sp>
      <p:sp>
        <p:nvSpPr>
          <p:cNvPr id="19" name="Text 17"/>
          <p:cNvSpPr/>
          <p:nvPr/>
        </p:nvSpPr>
        <p:spPr>
          <a:xfrm>
            <a:off x="9509760" y="1847088"/>
            <a:ext cx="1783080" cy="256032"/>
          </a:xfrm>
          <a:prstGeom prst="rect">
            <a:avLst/>
          </a:prstGeom>
          <a:noFill/>
          <a:ln/>
        </p:spPr>
        <p:txBody>
          <a:bodyPr wrap="square" lIns="0" tIns="0" rIns="0" bIns="0" rtlCol="0" anchor="ctr"/>
          <a:lstStyle/>
          <a:p>
            <a:pPr algn="r" indent="0" marL="0">
              <a:buNone/>
            </a:pPr>
            <a:r>
              <a:rPr lang="en-US" sz="1100" b="1" dirty="0">
                <a:solidFill>
                  <a:srgbClr val="D93025"/>
                </a:solidFill>
                <a:latin typeface="Arial" pitchFamily="34" charset="0"/>
                <a:ea typeface="Arial" pitchFamily="34" charset="-122"/>
                <a:cs typeface="Arial" pitchFamily="34" charset="-120"/>
              </a:rPr>
              <a:t>REMOVED</a:t>
            </a:r>
            <a:endParaRPr lang="en-US" sz="1100" dirty="0"/>
          </a:p>
        </p:txBody>
      </p:sp>
      <p:sp>
        <p:nvSpPr>
          <p:cNvPr id="20" name="Text 18"/>
          <p:cNvSpPr/>
          <p:nvPr/>
        </p:nvSpPr>
        <p:spPr>
          <a:xfrm>
            <a:off x="6720840" y="2194560"/>
            <a:ext cx="4572000" cy="274320"/>
          </a:xfrm>
          <a:prstGeom prst="rect">
            <a:avLst/>
          </a:prstGeom>
          <a:noFill/>
          <a:ln/>
        </p:spPr>
        <p:txBody>
          <a:bodyPr wrap="square" lIns="0" tIns="0" rIns="0" bIns="0" rtlCol="0" anchor="ctr"/>
          <a:lstStyle/>
          <a:p>
            <a:pPr indent="0" marL="0">
              <a:buNone/>
            </a:pPr>
            <a:r>
              <a:rPr lang="en-US" sz="1600" b="1" dirty="0">
                <a:solidFill>
                  <a:srgbClr val="D93025"/>
                </a:solidFill>
                <a:latin typeface="Arial" pitchFamily="34" charset="0"/>
                <a:ea typeface="Arial" pitchFamily="34" charset="-122"/>
                <a:cs typeface="Arial" pitchFamily="34" charset="-120"/>
              </a:rPr>
              <a:t>BLOCKED</a:t>
            </a:r>
            <a:endParaRPr lang="en-US" sz="1600" dirty="0"/>
          </a:p>
        </p:txBody>
      </p:sp>
      <p:sp>
        <p:nvSpPr>
          <p:cNvPr id="21" name="Text 19"/>
          <p:cNvSpPr/>
          <p:nvPr/>
        </p:nvSpPr>
        <p:spPr>
          <a:xfrm>
            <a:off x="6720840" y="2606040"/>
            <a:ext cx="4572000" cy="640080"/>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Not scored. Hard safety rule.</a:t>
            </a:r>
            <a:endParaRPr lang="en-US" sz="1400" dirty="0"/>
          </a:p>
        </p:txBody>
      </p:sp>
      <p:sp>
        <p:nvSpPr>
          <p:cNvPr id="22" name="Shape 20"/>
          <p:cNvSpPr/>
          <p:nvPr/>
        </p:nvSpPr>
        <p:spPr>
          <a:xfrm>
            <a:off x="6537960" y="3794760"/>
            <a:ext cx="4937760" cy="2057400"/>
          </a:xfrm>
          <a:prstGeom prst="rect">
            <a:avLst/>
          </a:prstGeom>
          <a:solidFill>
            <a:srgbClr val="E6F4EA"/>
          </a:solidFill>
          <a:ln w="15875">
            <a:solidFill>
              <a:srgbClr val="188038"/>
            </a:solidFill>
            <a:prstDash val="solid"/>
          </a:ln>
        </p:spPr>
      </p:sp>
      <p:sp>
        <p:nvSpPr>
          <p:cNvPr id="23" name="Text 21"/>
          <p:cNvSpPr/>
          <p:nvPr/>
        </p:nvSpPr>
        <p:spPr>
          <a:xfrm>
            <a:off x="6720840" y="3977640"/>
            <a:ext cx="2926080" cy="292608"/>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Route B</a:t>
            </a:r>
            <a:endParaRPr lang="en-US" sz="1800" dirty="0"/>
          </a:p>
        </p:txBody>
      </p:sp>
      <p:sp>
        <p:nvSpPr>
          <p:cNvPr id="24" name="Text 22"/>
          <p:cNvSpPr/>
          <p:nvPr/>
        </p:nvSpPr>
        <p:spPr>
          <a:xfrm>
            <a:off x="9509760" y="3995928"/>
            <a:ext cx="1783080" cy="256032"/>
          </a:xfrm>
          <a:prstGeom prst="rect">
            <a:avLst/>
          </a:prstGeom>
          <a:noFill/>
          <a:ln/>
        </p:spPr>
        <p:txBody>
          <a:bodyPr wrap="square" lIns="0" tIns="0" rIns="0" bIns="0" rtlCol="0" anchor="ctr"/>
          <a:lstStyle/>
          <a:p>
            <a:pPr algn="r" indent="0" marL="0">
              <a:buNone/>
            </a:pPr>
            <a:r>
              <a:rPr lang="en-US" sz="1100" b="1" dirty="0">
                <a:solidFill>
                  <a:srgbClr val="188038"/>
                </a:solidFill>
                <a:latin typeface="Arial" pitchFamily="34" charset="0"/>
                <a:ea typeface="Arial" pitchFamily="34" charset="-122"/>
                <a:cs typeface="Arial" pitchFamily="34" charset="-120"/>
              </a:rPr>
              <a:t>ADOPTED</a:t>
            </a:r>
            <a:endParaRPr lang="en-US" sz="1100" dirty="0"/>
          </a:p>
        </p:txBody>
      </p:sp>
      <p:sp>
        <p:nvSpPr>
          <p:cNvPr id="25" name="Text 23"/>
          <p:cNvSpPr/>
          <p:nvPr/>
        </p:nvSpPr>
        <p:spPr>
          <a:xfrm>
            <a:off x="6720840" y="4343400"/>
            <a:ext cx="4572000" cy="27432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12 min   ·   CLEAR</a:t>
            </a:r>
            <a:endParaRPr lang="en-US" sz="1600" dirty="0"/>
          </a:p>
        </p:txBody>
      </p:sp>
      <p:sp>
        <p:nvSpPr>
          <p:cNvPr id="26" name="Text 24"/>
          <p:cNvSpPr/>
          <p:nvPr/>
        </p:nvSpPr>
        <p:spPr>
          <a:xfrm>
            <a:off x="6720840" y="4754880"/>
            <a:ext cx="4572000" cy="777240"/>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Only eligible path left. Recalculated from the current point.</a:t>
            </a:r>
            <a:endParaRPr lang="en-US" sz="1400" dirty="0"/>
          </a:p>
        </p:txBody>
      </p:sp>
      <p:sp>
        <p:nvSpPr>
          <p:cNvPr id="27" name="Shape 25"/>
          <p:cNvSpPr/>
          <p:nvPr/>
        </p:nvSpPr>
        <p:spPr>
          <a:xfrm>
            <a:off x="0" y="6656832"/>
            <a:ext cx="12191695" cy="201168"/>
          </a:xfrm>
          <a:prstGeom prst="rect">
            <a:avLst/>
          </a:prstGeom>
          <a:solidFill>
            <a:srgbClr val="EEF1F4"/>
          </a:solidFill>
          <a:ln w="12700">
            <a:solidFill>
              <a:srgbClr val="EEF1F4"/>
            </a:solidFill>
            <a:prstDash val="solid"/>
          </a:ln>
        </p:spPr>
      </p:sp>
      <p:sp>
        <p:nvSpPr>
          <p:cNvPr id="28" name="Text 26"/>
          <p:cNvSpPr/>
          <p:nvPr/>
        </p:nvSpPr>
        <p:spPr>
          <a:xfrm>
            <a:off x="502920" y="6656832"/>
            <a:ext cx="5486400" cy="20116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RapidRoute  ·  RIH-PS-011</a:t>
            </a:r>
            <a:endParaRPr lang="en-US" sz="1000" dirty="0"/>
          </a:p>
        </p:txBody>
      </p:sp>
      <p:sp>
        <p:nvSpPr>
          <p:cNvPr id="29" name="Text 27"/>
          <p:cNvSpPr/>
          <p:nvPr/>
        </p:nvSpPr>
        <p:spPr>
          <a:xfrm>
            <a:off x="11338560" y="6656832"/>
            <a:ext cx="457200" cy="201168"/>
          </a:xfrm>
          <a:prstGeom prst="rect">
            <a:avLst/>
          </a:prstGeom>
          <a:noFill/>
          <a:ln/>
        </p:spPr>
        <p:txBody>
          <a:bodyPr wrap="square" lIns="0" tIns="0" rIns="0" bIns="0" rtlCol="0" anchor="ctr"/>
          <a:lstStyle/>
          <a:p>
            <a:pPr algn="r" indent="0" marL="0">
              <a:buNone/>
            </a:pPr>
            <a:r>
              <a:rPr lang="en-US" sz="1000" dirty="0">
                <a:solidFill>
                  <a:srgbClr val="5F6368"/>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02920" y="201168"/>
            <a:ext cx="7315200" cy="201168"/>
          </a:xfrm>
          <a:prstGeom prst="rect">
            <a:avLst/>
          </a:prstGeom>
          <a:noFill/>
          <a:ln/>
        </p:spPr>
        <p:txBody>
          <a:bodyPr wrap="square" lIns="0" tIns="0" rIns="0" bIns="0" rtlCol="0" anchor="ctr"/>
          <a:lstStyle/>
          <a:p>
            <a:pPr indent="0" marL="0">
              <a:buNone/>
            </a:pPr>
            <a:r>
              <a:rPr lang="en-US" sz="1100" b="1" spc="140" kern="0" dirty="0">
                <a:solidFill>
                  <a:srgbClr val="5F6368"/>
                </a:solidFill>
                <a:latin typeface="Arial" pitchFamily="34" charset="0"/>
                <a:ea typeface="Arial" pitchFamily="34" charset="-122"/>
                <a:cs typeface="Arial" pitchFamily="34" charset="-120"/>
              </a:rPr>
              <a:t>LIVE RUN</a:t>
            </a:r>
            <a:endParaRPr lang="en-US" sz="1100" dirty="0"/>
          </a:p>
        </p:txBody>
      </p:sp>
      <p:sp>
        <p:nvSpPr>
          <p:cNvPr id="3" name="Text 1"/>
          <p:cNvSpPr/>
          <p:nvPr/>
        </p:nvSpPr>
        <p:spPr>
          <a:xfrm>
            <a:off x="502920" y="438912"/>
            <a:ext cx="11155680" cy="457200"/>
          </a:xfrm>
          <a:prstGeom prst="rect">
            <a:avLst/>
          </a:prstGeom>
          <a:noFill/>
          <a:ln/>
        </p:spPr>
        <p:txBody>
          <a:bodyPr wrap="square" lIns="0" tIns="0" rIns="0" bIns="0" rtlCol="0" anchor="ctr"/>
          <a:lstStyle/>
          <a:p>
            <a:pPr indent="0" marL="0">
              <a:buNone/>
            </a:pPr>
            <a:r>
              <a:rPr lang="en-US" sz="2800" b="1" dirty="0">
                <a:solidFill>
                  <a:srgbClr val="202124"/>
                </a:solidFill>
                <a:latin typeface="Arial" pitchFamily="34" charset="0"/>
                <a:ea typeface="Arial" pitchFamily="34" charset="-122"/>
                <a:cs typeface="Arial" pitchFamily="34" charset="-120"/>
              </a:rPr>
              <a:t>Watch RapidRoute react</a:t>
            </a:r>
            <a:endParaRPr lang="en-US" sz="2800" dirty="0"/>
          </a:p>
        </p:txBody>
      </p:sp>
      <p:sp>
        <p:nvSpPr>
          <p:cNvPr id="4" name="Shape 2"/>
          <p:cNvSpPr/>
          <p:nvPr/>
        </p:nvSpPr>
        <p:spPr>
          <a:xfrm>
            <a:off x="502920" y="1143000"/>
            <a:ext cx="5486400" cy="4160520"/>
          </a:xfrm>
          <a:prstGeom prst="rect">
            <a:avLst/>
          </a:prstGeom>
          <a:solidFill>
            <a:srgbClr val="FFFFFF"/>
          </a:solidFill>
          <a:ln w="12700">
            <a:solidFill>
              <a:srgbClr val="DADCE0"/>
            </a:solidFill>
            <a:prstDash val="solid"/>
          </a:ln>
        </p:spPr>
      </p:sp>
      <p:sp>
        <p:nvSpPr>
          <p:cNvPr id="5" name="Text 3"/>
          <p:cNvSpPr/>
          <p:nvPr/>
        </p:nvSpPr>
        <p:spPr>
          <a:xfrm>
            <a:off x="685800" y="1280160"/>
            <a:ext cx="5120640" cy="256032"/>
          </a:xfrm>
          <a:prstGeom prst="rect">
            <a:avLst/>
          </a:prstGeom>
          <a:noFill/>
          <a:ln/>
        </p:spPr>
        <p:txBody>
          <a:bodyPr wrap="square" lIns="0" tIns="0" rIns="0" bIns="0" rtlCol="0" anchor="ctr"/>
          <a:lstStyle/>
          <a:p>
            <a:pPr indent="0" marL="0">
              <a:buNone/>
            </a:pPr>
            <a:r>
              <a:rPr lang="en-US" sz="1200" b="1" spc="130" kern="0" dirty="0">
                <a:solidFill>
                  <a:srgbClr val="5F6368"/>
                </a:solidFill>
                <a:latin typeface="Arial" pitchFamily="34" charset="0"/>
                <a:ea typeface="Arial" pitchFamily="34" charset="-122"/>
                <a:cs typeface="Arial" pitchFamily="34" charset="-120"/>
              </a:rPr>
              <a:t>DISPATCH</a:t>
            </a:r>
            <a:endParaRPr lang="en-US" sz="1200" dirty="0"/>
          </a:p>
        </p:txBody>
      </p:sp>
      <p:sp>
        <p:nvSpPr>
          <p:cNvPr id="6" name="Shape 4"/>
          <p:cNvSpPr/>
          <p:nvPr/>
        </p:nvSpPr>
        <p:spPr>
          <a:xfrm>
            <a:off x="731520" y="1737360"/>
            <a:ext cx="256032" cy="256032"/>
          </a:xfrm>
          <a:prstGeom prst="ellipse">
            <a:avLst/>
          </a:prstGeom>
          <a:solidFill>
            <a:srgbClr val="1A73E8"/>
          </a:solidFill>
          <a:ln w="12700">
            <a:solidFill>
              <a:srgbClr val="1A73E8"/>
            </a:solidFill>
            <a:prstDash val="solid"/>
          </a:ln>
        </p:spPr>
      </p:sp>
      <p:sp>
        <p:nvSpPr>
          <p:cNvPr id="7" name="Text 5"/>
          <p:cNvSpPr/>
          <p:nvPr/>
        </p:nvSpPr>
        <p:spPr>
          <a:xfrm>
            <a:off x="731520" y="1737360"/>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1143000" y="1719072"/>
            <a:ext cx="4617720" cy="32004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Emergency created</a:t>
            </a:r>
            <a:endParaRPr lang="en-US" sz="1600" dirty="0"/>
          </a:p>
        </p:txBody>
      </p:sp>
      <p:sp>
        <p:nvSpPr>
          <p:cNvPr id="9" name="Shape 7"/>
          <p:cNvSpPr/>
          <p:nvPr/>
        </p:nvSpPr>
        <p:spPr>
          <a:xfrm>
            <a:off x="731520" y="2377440"/>
            <a:ext cx="256032" cy="256032"/>
          </a:xfrm>
          <a:prstGeom prst="ellipse">
            <a:avLst/>
          </a:prstGeom>
          <a:solidFill>
            <a:srgbClr val="1A73E8"/>
          </a:solidFill>
          <a:ln w="12700">
            <a:solidFill>
              <a:srgbClr val="1A73E8"/>
            </a:solidFill>
            <a:prstDash val="solid"/>
          </a:ln>
        </p:spPr>
      </p:sp>
      <p:sp>
        <p:nvSpPr>
          <p:cNvPr id="10" name="Text 8"/>
          <p:cNvSpPr/>
          <p:nvPr/>
        </p:nvSpPr>
        <p:spPr>
          <a:xfrm>
            <a:off x="731520" y="2377440"/>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2</a:t>
            </a:r>
            <a:endParaRPr lang="en-US" sz="1100" dirty="0"/>
          </a:p>
        </p:txBody>
      </p:sp>
      <p:sp>
        <p:nvSpPr>
          <p:cNvPr id="11" name="Text 9"/>
          <p:cNvSpPr/>
          <p:nvPr/>
        </p:nvSpPr>
        <p:spPr>
          <a:xfrm>
            <a:off x="1143000" y="2359152"/>
            <a:ext cx="4617720" cy="32004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Compatible unit assigned</a:t>
            </a:r>
            <a:endParaRPr lang="en-US" sz="1600" dirty="0"/>
          </a:p>
        </p:txBody>
      </p:sp>
      <p:sp>
        <p:nvSpPr>
          <p:cNvPr id="12" name="Shape 10"/>
          <p:cNvSpPr/>
          <p:nvPr/>
        </p:nvSpPr>
        <p:spPr>
          <a:xfrm>
            <a:off x="731520" y="3017520"/>
            <a:ext cx="256032" cy="256032"/>
          </a:xfrm>
          <a:prstGeom prst="ellipse">
            <a:avLst/>
          </a:prstGeom>
          <a:solidFill>
            <a:srgbClr val="1A73E8"/>
          </a:solidFill>
          <a:ln w="12700">
            <a:solidFill>
              <a:srgbClr val="1A73E8"/>
            </a:solidFill>
            <a:prstDash val="solid"/>
          </a:ln>
        </p:spPr>
      </p:sp>
      <p:sp>
        <p:nvSpPr>
          <p:cNvPr id="13" name="Text 11"/>
          <p:cNvSpPr/>
          <p:nvPr/>
        </p:nvSpPr>
        <p:spPr>
          <a:xfrm>
            <a:off x="731520" y="3017520"/>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3</a:t>
            </a:r>
            <a:endParaRPr lang="en-US" sz="1100" dirty="0"/>
          </a:p>
        </p:txBody>
      </p:sp>
      <p:sp>
        <p:nvSpPr>
          <p:cNvPr id="14" name="Text 12"/>
          <p:cNvSpPr/>
          <p:nvPr/>
        </p:nvSpPr>
        <p:spPr>
          <a:xfrm>
            <a:off x="1143000" y="2999232"/>
            <a:ext cx="4617720" cy="32004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Google routes calculated</a:t>
            </a:r>
            <a:endParaRPr lang="en-US" sz="1600" dirty="0"/>
          </a:p>
        </p:txBody>
      </p:sp>
      <p:sp>
        <p:nvSpPr>
          <p:cNvPr id="15" name="Shape 13"/>
          <p:cNvSpPr/>
          <p:nvPr/>
        </p:nvSpPr>
        <p:spPr>
          <a:xfrm>
            <a:off x="731520" y="3657600"/>
            <a:ext cx="256032" cy="256032"/>
          </a:xfrm>
          <a:prstGeom prst="ellipse">
            <a:avLst/>
          </a:prstGeom>
          <a:solidFill>
            <a:srgbClr val="1A73E8"/>
          </a:solidFill>
          <a:ln w="12700">
            <a:solidFill>
              <a:srgbClr val="1A73E8"/>
            </a:solidFill>
            <a:prstDash val="solid"/>
          </a:ln>
        </p:spPr>
      </p:sp>
      <p:sp>
        <p:nvSpPr>
          <p:cNvPr id="16" name="Text 14"/>
          <p:cNvSpPr/>
          <p:nvPr/>
        </p:nvSpPr>
        <p:spPr>
          <a:xfrm>
            <a:off x="731520" y="3657600"/>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4</a:t>
            </a:r>
            <a:endParaRPr lang="en-US" sz="1100" dirty="0"/>
          </a:p>
        </p:txBody>
      </p:sp>
      <p:sp>
        <p:nvSpPr>
          <p:cNvPr id="17" name="Text 15"/>
          <p:cNvSpPr/>
          <p:nvPr/>
        </p:nvSpPr>
        <p:spPr>
          <a:xfrm>
            <a:off x="1143000" y="3639312"/>
            <a:ext cx="4617720" cy="32004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Best eligible route selected</a:t>
            </a:r>
            <a:endParaRPr lang="en-US" sz="1600" dirty="0"/>
          </a:p>
        </p:txBody>
      </p:sp>
      <p:sp>
        <p:nvSpPr>
          <p:cNvPr id="18" name="Shape 16"/>
          <p:cNvSpPr/>
          <p:nvPr/>
        </p:nvSpPr>
        <p:spPr>
          <a:xfrm>
            <a:off x="731520" y="4297680"/>
            <a:ext cx="256032" cy="256032"/>
          </a:xfrm>
          <a:prstGeom prst="ellipse">
            <a:avLst/>
          </a:prstGeom>
          <a:solidFill>
            <a:srgbClr val="1A73E8"/>
          </a:solidFill>
          <a:ln w="12700">
            <a:solidFill>
              <a:srgbClr val="1A73E8"/>
            </a:solidFill>
            <a:prstDash val="solid"/>
          </a:ln>
        </p:spPr>
      </p:sp>
      <p:sp>
        <p:nvSpPr>
          <p:cNvPr id="19" name="Text 17"/>
          <p:cNvSpPr/>
          <p:nvPr/>
        </p:nvSpPr>
        <p:spPr>
          <a:xfrm>
            <a:off x="731520" y="4297680"/>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5</a:t>
            </a:r>
            <a:endParaRPr lang="en-US" sz="1100" dirty="0"/>
          </a:p>
        </p:txBody>
      </p:sp>
      <p:sp>
        <p:nvSpPr>
          <p:cNvPr id="20" name="Text 18"/>
          <p:cNvSpPr/>
          <p:nvPr/>
        </p:nvSpPr>
        <p:spPr>
          <a:xfrm>
            <a:off x="1143000" y="4279392"/>
            <a:ext cx="4617720" cy="32004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Journey starts (simulated motion)</a:t>
            </a:r>
            <a:endParaRPr lang="en-US" sz="1600" dirty="0"/>
          </a:p>
        </p:txBody>
      </p:sp>
      <p:sp>
        <p:nvSpPr>
          <p:cNvPr id="21" name="Shape 19"/>
          <p:cNvSpPr/>
          <p:nvPr/>
        </p:nvSpPr>
        <p:spPr>
          <a:xfrm>
            <a:off x="6217920" y="1143000"/>
            <a:ext cx="5486400" cy="4160520"/>
          </a:xfrm>
          <a:prstGeom prst="rect">
            <a:avLst/>
          </a:prstGeom>
          <a:solidFill>
            <a:srgbClr val="FFFFFF"/>
          </a:solidFill>
          <a:ln w="12700">
            <a:solidFill>
              <a:srgbClr val="DADCE0"/>
            </a:solidFill>
            <a:prstDash val="solid"/>
          </a:ln>
        </p:spPr>
      </p:sp>
      <p:sp>
        <p:nvSpPr>
          <p:cNvPr id="22" name="Text 20"/>
          <p:cNvSpPr/>
          <p:nvPr/>
        </p:nvSpPr>
        <p:spPr>
          <a:xfrm>
            <a:off x="6400800" y="1280160"/>
            <a:ext cx="5120640" cy="256032"/>
          </a:xfrm>
          <a:prstGeom prst="rect">
            <a:avLst/>
          </a:prstGeom>
          <a:noFill/>
          <a:ln/>
        </p:spPr>
        <p:txBody>
          <a:bodyPr wrap="square" lIns="0" tIns="0" rIns="0" bIns="0" rtlCol="0" anchor="ctr"/>
          <a:lstStyle/>
          <a:p>
            <a:pPr indent="0" marL="0">
              <a:buNone/>
            </a:pPr>
            <a:r>
              <a:rPr lang="en-US" sz="1200" b="1" spc="130" kern="0" dirty="0">
                <a:solidFill>
                  <a:srgbClr val="D93025"/>
                </a:solidFill>
                <a:latin typeface="Arial" pitchFamily="34" charset="0"/>
                <a:ea typeface="Arial" pitchFamily="34" charset="-122"/>
                <a:cs typeface="Arial" pitchFamily="34" charset="-120"/>
              </a:rPr>
              <a:t>REROUTE</a:t>
            </a:r>
            <a:endParaRPr lang="en-US" sz="1200" dirty="0"/>
          </a:p>
        </p:txBody>
      </p:sp>
      <p:sp>
        <p:nvSpPr>
          <p:cNvPr id="23" name="Shape 21"/>
          <p:cNvSpPr/>
          <p:nvPr/>
        </p:nvSpPr>
        <p:spPr>
          <a:xfrm>
            <a:off x="6446520" y="1737360"/>
            <a:ext cx="256032" cy="256032"/>
          </a:xfrm>
          <a:prstGeom prst="ellipse">
            <a:avLst/>
          </a:prstGeom>
          <a:solidFill>
            <a:srgbClr val="D93025"/>
          </a:solidFill>
          <a:ln w="12700">
            <a:solidFill>
              <a:srgbClr val="D93025"/>
            </a:solidFill>
            <a:prstDash val="solid"/>
          </a:ln>
        </p:spPr>
      </p:sp>
      <p:sp>
        <p:nvSpPr>
          <p:cNvPr id="24" name="Text 22"/>
          <p:cNvSpPr/>
          <p:nvPr/>
        </p:nvSpPr>
        <p:spPr>
          <a:xfrm>
            <a:off x="6446520" y="1737360"/>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1</a:t>
            </a:r>
            <a:endParaRPr lang="en-US" sz="1100" dirty="0"/>
          </a:p>
        </p:txBody>
      </p:sp>
      <p:sp>
        <p:nvSpPr>
          <p:cNvPr id="25" name="Text 23"/>
          <p:cNvSpPr/>
          <p:nvPr/>
        </p:nvSpPr>
        <p:spPr>
          <a:xfrm>
            <a:off x="6858000" y="1719072"/>
            <a:ext cx="4617720" cy="32004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Admin marks current road blocked</a:t>
            </a:r>
            <a:endParaRPr lang="en-US" sz="1600" dirty="0"/>
          </a:p>
        </p:txBody>
      </p:sp>
      <p:sp>
        <p:nvSpPr>
          <p:cNvPr id="26" name="Shape 24"/>
          <p:cNvSpPr/>
          <p:nvPr/>
        </p:nvSpPr>
        <p:spPr>
          <a:xfrm>
            <a:off x="6446520" y="2377440"/>
            <a:ext cx="256032" cy="256032"/>
          </a:xfrm>
          <a:prstGeom prst="ellipse">
            <a:avLst/>
          </a:prstGeom>
          <a:solidFill>
            <a:srgbClr val="202124"/>
          </a:solidFill>
          <a:ln w="12700">
            <a:solidFill>
              <a:srgbClr val="202124"/>
            </a:solidFill>
            <a:prstDash val="solid"/>
          </a:ln>
        </p:spPr>
      </p:sp>
      <p:sp>
        <p:nvSpPr>
          <p:cNvPr id="27" name="Text 25"/>
          <p:cNvSpPr/>
          <p:nvPr/>
        </p:nvSpPr>
        <p:spPr>
          <a:xfrm>
            <a:off x="6446520" y="2377440"/>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2</a:t>
            </a:r>
            <a:endParaRPr lang="en-US" sz="1100" dirty="0"/>
          </a:p>
        </p:txBody>
      </p:sp>
      <p:sp>
        <p:nvSpPr>
          <p:cNvPr id="28" name="Text 26"/>
          <p:cNvSpPr/>
          <p:nvPr/>
        </p:nvSpPr>
        <p:spPr>
          <a:xfrm>
            <a:off x="6858000" y="2359152"/>
            <a:ext cx="4617720" cy="32004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Routes recalculated from here</a:t>
            </a:r>
            <a:endParaRPr lang="en-US" sz="1600" dirty="0"/>
          </a:p>
        </p:txBody>
      </p:sp>
      <p:sp>
        <p:nvSpPr>
          <p:cNvPr id="29" name="Shape 27"/>
          <p:cNvSpPr/>
          <p:nvPr/>
        </p:nvSpPr>
        <p:spPr>
          <a:xfrm>
            <a:off x="6446520" y="3017520"/>
            <a:ext cx="256032" cy="256032"/>
          </a:xfrm>
          <a:prstGeom prst="ellipse">
            <a:avLst/>
          </a:prstGeom>
          <a:solidFill>
            <a:srgbClr val="202124"/>
          </a:solidFill>
          <a:ln w="12700">
            <a:solidFill>
              <a:srgbClr val="202124"/>
            </a:solidFill>
            <a:prstDash val="solid"/>
          </a:ln>
        </p:spPr>
      </p:sp>
      <p:sp>
        <p:nvSpPr>
          <p:cNvPr id="30" name="Text 28"/>
          <p:cNvSpPr/>
          <p:nvPr/>
        </p:nvSpPr>
        <p:spPr>
          <a:xfrm>
            <a:off x="6446520" y="3017520"/>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3</a:t>
            </a:r>
            <a:endParaRPr lang="en-US" sz="1100" dirty="0"/>
          </a:p>
        </p:txBody>
      </p:sp>
      <p:sp>
        <p:nvSpPr>
          <p:cNvPr id="31" name="Text 29"/>
          <p:cNvSpPr/>
          <p:nvPr/>
        </p:nvSpPr>
        <p:spPr>
          <a:xfrm>
            <a:off x="6858000" y="2999232"/>
            <a:ext cx="4617720" cy="32004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Blocked candidate removed</a:t>
            </a:r>
            <a:endParaRPr lang="en-US" sz="1600" dirty="0"/>
          </a:p>
        </p:txBody>
      </p:sp>
      <p:sp>
        <p:nvSpPr>
          <p:cNvPr id="32" name="Shape 30"/>
          <p:cNvSpPr/>
          <p:nvPr/>
        </p:nvSpPr>
        <p:spPr>
          <a:xfrm>
            <a:off x="6446520" y="3657600"/>
            <a:ext cx="256032" cy="256032"/>
          </a:xfrm>
          <a:prstGeom prst="ellipse">
            <a:avLst/>
          </a:prstGeom>
          <a:solidFill>
            <a:srgbClr val="202124"/>
          </a:solidFill>
          <a:ln w="12700">
            <a:solidFill>
              <a:srgbClr val="202124"/>
            </a:solidFill>
            <a:prstDash val="solid"/>
          </a:ln>
        </p:spPr>
      </p:sp>
      <p:sp>
        <p:nvSpPr>
          <p:cNvPr id="33" name="Text 31"/>
          <p:cNvSpPr/>
          <p:nvPr/>
        </p:nvSpPr>
        <p:spPr>
          <a:xfrm>
            <a:off x="6446520" y="3657600"/>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4</a:t>
            </a:r>
            <a:endParaRPr lang="en-US" sz="1100" dirty="0"/>
          </a:p>
        </p:txBody>
      </p:sp>
      <p:sp>
        <p:nvSpPr>
          <p:cNvPr id="34" name="Text 32"/>
          <p:cNvSpPr/>
          <p:nvPr/>
        </p:nvSpPr>
        <p:spPr>
          <a:xfrm>
            <a:off x="6858000" y="3639312"/>
            <a:ext cx="4617720" cy="32004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Clear alternative adopted</a:t>
            </a:r>
            <a:endParaRPr lang="en-US" sz="1600" dirty="0"/>
          </a:p>
        </p:txBody>
      </p:sp>
      <p:sp>
        <p:nvSpPr>
          <p:cNvPr id="35" name="Shape 33"/>
          <p:cNvSpPr/>
          <p:nvPr/>
        </p:nvSpPr>
        <p:spPr>
          <a:xfrm>
            <a:off x="6446520" y="4297680"/>
            <a:ext cx="256032" cy="256032"/>
          </a:xfrm>
          <a:prstGeom prst="ellipse">
            <a:avLst/>
          </a:prstGeom>
          <a:solidFill>
            <a:srgbClr val="202124"/>
          </a:solidFill>
          <a:ln w="12700">
            <a:solidFill>
              <a:srgbClr val="202124"/>
            </a:solidFill>
            <a:prstDash val="solid"/>
          </a:ln>
        </p:spPr>
      </p:sp>
      <p:sp>
        <p:nvSpPr>
          <p:cNvPr id="36" name="Text 34"/>
          <p:cNvSpPr/>
          <p:nvPr/>
        </p:nvSpPr>
        <p:spPr>
          <a:xfrm>
            <a:off x="6446520" y="4297680"/>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5</a:t>
            </a:r>
            <a:endParaRPr lang="en-US" sz="1100" dirty="0"/>
          </a:p>
        </p:txBody>
      </p:sp>
      <p:sp>
        <p:nvSpPr>
          <p:cNvPr id="37" name="Text 35"/>
          <p:cNvSpPr/>
          <p:nvPr/>
        </p:nvSpPr>
        <p:spPr>
          <a:xfrm>
            <a:off x="6858000" y="4279392"/>
            <a:ext cx="4617720" cy="32004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Reason stored in the event log</a:t>
            </a:r>
            <a:endParaRPr lang="en-US" sz="1600" dirty="0"/>
          </a:p>
        </p:txBody>
      </p:sp>
      <p:sp>
        <p:nvSpPr>
          <p:cNvPr id="38" name="Shape 36"/>
          <p:cNvSpPr/>
          <p:nvPr/>
        </p:nvSpPr>
        <p:spPr>
          <a:xfrm>
            <a:off x="502920" y="5486400"/>
            <a:ext cx="11201400" cy="822960"/>
          </a:xfrm>
          <a:prstGeom prst="rect">
            <a:avLst/>
          </a:prstGeom>
          <a:solidFill>
            <a:srgbClr val="202124"/>
          </a:solidFill>
          <a:ln w="12700">
            <a:solidFill>
              <a:srgbClr val="202124"/>
            </a:solidFill>
            <a:prstDash val="solid"/>
          </a:ln>
        </p:spPr>
      </p:sp>
      <p:sp>
        <p:nvSpPr>
          <p:cNvPr id="39" name="Text 37"/>
          <p:cNvSpPr/>
          <p:nvPr/>
        </p:nvSpPr>
        <p:spPr>
          <a:xfrm>
            <a:off x="685800" y="5623560"/>
            <a:ext cx="10835640" cy="5486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RapidRoute does not simply redraw the route. It changes the decision.</a:t>
            </a:r>
            <a:endParaRPr lang="en-US" sz="1800" dirty="0"/>
          </a:p>
        </p:txBody>
      </p:sp>
      <p:sp>
        <p:nvSpPr>
          <p:cNvPr id="40" name="Shape 38"/>
          <p:cNvSpPr/>
          <p:nvPr/>
        </p:nvSpPr>
        <p:spPr>
          <a:xfrm>
            <a:off x="0" y="6656832"/>
            <a:ext cx="12191695" cy="201168"/>
          </a:xfrm>
          <a:prstGeom prst="rect">
            <a:avLst/>
          </a:prstGeom>
          <a:solidFill>
            <a:srgbClr val="EEF1F4"/>
          </a:solidFill>
          <a:ln w="12700">
            <a:solidFill>
              <a:srgbClr val="EEF1F4"/>
            </a:solidFill>
            <a:prstDash val="solid"/>
          </a:ln>
        </p:spPr>
      </p:sp>
      <p:sp>
        <p:nvSpPr>
          <p:cNvPr id="41" name="Text 39"/>
          <p:cNvSpPr/>
          <p:nvPr/>
        </p:nvSpPr>
        <p:spPr>
          <a:xfrm>
            <a:off x="502920" y="6656832"/>
            <a:ext cx="5486400" cy="20116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RapidRoute  ·  RIH-PS-011</a:t>
            </a:r>
            <a:endParaRPr lang="en-US" sz="1000" dirty="0"/>
          </a:p>
        </p:txBody>
      </p:sp>
      <p:sp>
        <p:nvSpPr>
          <p:cNvPr id="42" name="Text 40"/>
          <p:cNvSpPr/>
          <p:nvPr/>
        </p:nvSpPr>
        <p:spPr>
          <a:xfrm>
            <a:off x="11338560" y="6656832"/>
            <a:ext cx="457200" cy="201168"/>
          </a:xfrm>
          <a:prstGeom prst="rect">
            <a:avLst/>
          </a:prstGeom>
          <a:noFill/>
          <a:ln/>
        </p:spPr>
        <p:txBody>
          <a:bodyPr wrap="square" lIns="0" tIns="0" rIns="0" bIns="0" rtlCol="0" anchor="ctr"/>
          <a:lstStyle/>
          <a:p>
            <a:pPr algn="r" indent="0" marL="0">
              <a:buNone/>
            </a:pPr>
            <a:r>
              <a:rPr lang="en-US" sz="1000" dirty="0">
                <a:solidFill>
                  <a:srgbClr val="5F6368"/>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02920" y="201168"/>
            <a:ext cx="7315200" cy="201168"/>
          </a:xfrm>
          <a:prstGeom prst="rect">
            <a:avLst/>
          </a:prstGeom>
          <a:noFill/>
          <a:ln/>
        </p:spPr>
        <p:txBody>
          <a:bodyPr wrap="square" lIns="0" tIns="0" rIns="0" bIns="0" rtlCol="0" anchor="ctr"/>
          <a:lstStyle/>
          <a:p>
            <a:pPr indent="0" marL="0">
              <a:buNone/>
            </a:pPr>
            <a:r>
              <a:rPr lang="en-US" sz="1100" b="1" spc="140" kern="0" dirty="0">
                <a:solidFill>
                  <a:srgbClr val="5F6368"/>
                </a:solidFill>
                <a:latin typeface="Arial" pitchFamily="34" charset="0"/>
                <a:ea typeface="Arial" pitchFamily="34" charset="-122"/>
                <a:cs typeface="Arial" pitchFamily="34" charset="-120"/>
              </a:rPr>
              <a:t>SYSTEM</a:t>
            </a:r>
            <a:endParaRPr lang="en-US" sz="1100" dirty="0"/>
          </a:p>
        </p:txBody>
      </p:sp>
      <p:sp>
        <p:nvSpPr>
          <p:cNvPr id="3" name="Text 1"/>
          <p:cNvSpPr/>
          <p:nvPr/>
        </p:nvSpPr>
        <p:spPr>
          <a:xfrm>
            <a:off x="502920" y="438912"/>
            <a:ext cx="11155680" cy="457200"/>
          </a:xfrm>
          <a:prstGeom prst="rect">
            <a:avLst/>
          </a:prstGeom>
          <a:noFill/>
          <a:ln/>
        </p:spPr>
        <p:txBody>
          <a:bodyPr wrap="square" lIns="0" tIns="0" rIns="0" bIns="0" rtlCol="0" anchor="ctr"/>
          <a:lstStyle/>
          <a:p>
            <a:pPr indent="0" marL="0">
              <a:buNone/>
            </a:pPr>
            <a:r>
              <a:rPr lang="en-US" sz="2800" b="1" dirty="0">
                <a:solidFill>
                  <a:srgbClr val="202124"/>
                </a:solidFill>
                <a:latin typeface="Arial" pitchFamily="34" charset="0"/>
                <a:ea typeface="Arial" pitchFamily="34" charset="-122"/>
                <a:cs typeface="Arial" pitchFamily="34" charset="-120"/>
              </a:rPr>
              <a:t>Under the hood</a:t>
            </a:r>
            <a:endParaRPr lang="en-US" sz="2800" dirty="0"/>
          </a:p>
        </p:txBody>
      </p:sp>
      <p:sp>
        <p:nvSpPr>
          <p:cNvPr id="4" name="Shape 2"/>
          <p:cNvSpPr/>
          <p:nvPr/>
        </p:nvSpPr>
        <p:spPr>
          <a:xfrm>
            <a:off x="502920" y="1143000"/>
            <a:ext cx="2788920" cy="3520440"/>
          </a:xfrm>
          <a:prstGeom prst="rect">
            <a:avLst/>
          </a:prstGeom>
          <a:solidFill>
            <a:srgbClr val="FFFFFF"/>
          </a:solidFill>
          <a:ln w="12700">
            <a:solidFill>
              <a:srgbClr val="DADCE0"/>
            </a:solidFill>
            <a:prstDash val="solid"/>
          </a:ln>
        </p:spPr>
      </p:sp>
      <p:sp>
        <p:nvSpPr>
          <p:cNvPr id="5" name="Shape 3"/>
          <p:cNvSpPr/>
          <p:nvPr/>
        </p:nvSpPr>
        <p:spPr>
          <a:xfrm>
            <a:off x="502920" y="1143000"/>
            <a:ext cx="2788920" cy="438912"/>
          </a:xfrm>
          <a:prstGeom prst="rect">
            <a:avLst/>
          </a:prstGeom>
          <a:solidFill>
            <a:srgbClr val="202124"/>
          </a:solidFill>
          <a:ln w="12700">
            <a:solidFill>
              <a:srgbClr val="202124"/>
            </a:solidFill>
            <a:prstDash val="solid"/>
          </a:ln>
        </p:spPr>
      </p:sp>
      <p:sp>
        <p:nvSpPr>
          <p:cNvPr id="6" name="Text 4"/>
          <p:cNvSpPr/>
          <p:nvPr/>
        </p:nvSpPr>
        <p:spPr>
          <a:xfrm>
            <a:off x="612648" y="1216152"/>
            <a:ext cx="256032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FRONTEND</a:t>
            </a:r>
            <a:endParaRPr lang="en-US" sz="1300" dirty="0"/>
          </a:p>
        </p:txBody>
      </p:sp>
      <p:sp>
        <p:nvSpPr>
          <p:cNvPr id="7" name="Text 5"/>
          <p:cNvSpPr/>
          <p:nvPr/>
        </p:nvSpPr>
        <p:spPr>
          <a:xfrm>
            <a:off x="640080" y="173736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React + TypeScript</a:t>
            </a:r>
            <a:endParaRPr lang="en-US" sz="1400" dirty="0"/>
          </a:p>
        </p:txBody>
      </p:sp>
      <p:sp>
        <p:nvSpPr>
          <p:cNvPr id="8" name="Text 6"/>
          <p:cNvSpPr/>
          <p:nvPr/>
        </p:nvSpPr>
        <p:spPr>
          <a:xfrm>
            <a:off x="640080" y="224028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Vite</a:t>
            </a:r>
            <a:endParaRPr lang="en-US" sz="1400" dirty="0"/>
          </a:p>
        </p:txBody>
      </p:sp>
      <p:sp>
        <p:nvSpPr>
          <p:cNvPr id="9" name="Text 7"/>
          <p:cNvSpPr/>
          <p:nvPr/>
        </p:nvSpPr>
        <p:spPr>
          <a:xfrm>
            <a:off x="640080" y="274320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Tailwind CSS</a:t>
            </a:r>
            <a:endParaRPr lang="en-US" sz="1400" dirty="0"/>
          </a:p>
        </p:txBody>
      </p:sp>
      <p:sp>
        <p:nvSpPr>
          <p:cNvPr id="10" name="Text 8"/>
          <p:cNvSpPr/>
          <p:nvPr/>
        </p:nvSpPr>
        <p:spPr>
          <a:xfrm>
            <a:off x="640080" y="324612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Google Maps JS API</a:t>
            </a:r>
            <a:endParaRPr lang="en-US" sz="1400" dirty="0"/>
          </a:p>
        </p:txBody>
      </p:sp>
      <p:sp>
        <p:nvSpPr>
          <p:cNvPr id="11" name="Text 9"/>
          <p:cNvSpPr/>
          <p:nvPr/>
        </p:nvSpPr>
        <p:spPr>
          <a:xfrm>
            <a:off x="640080" y="374904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Map tiles and pins only</a:t>
            </a:r>
            <a:endParaRPr lang="en-US" sz="1400" dirty="0"/>
          </a:p>
        </p:txBody>
      </p:sp>
      <p:sp>
        <p:nvSpPr>
          <p:cNvPr id="12" name="Shape 10"/>
          <p:cNvSpPr/>
          <p:nvPr/>
        </p:nvSpPr>
        <p:spPr>
          <a:xfrm>
            <a:off x="3429000" y="1143000"/>
            <a:ext cx="2788920" cy="3520440"/>
          </a:xfrm>
          <a:prstGeom prst="rect">
            <a:avLst/>
          </a:prstGeom>
          <a:solidFill>
            <a:srgbClr val="FFFFFF"/>
          </a:solidFill>
          <a:ln w="12700">
            <a:solidFill>
              <a:srgbClr val="DADCE0"/>
            </a:solidFill>
            <a:prstDash val="solid"/>
          </a:ln>
        </p:spPr>
      </p:sp>
      <p:sp>
        <p:nvSpPr>
          <p:cNvPr id="13" name="Shape 11"/>
          <p:cNvSpPr/>
          <p:nvPr/>
        </p:nvSpPr>
        <p:spPr>
          <a:xfrm>
            <a:off x="3429000" y="1143000"/>
            <a:ext cx="2788920" cy="438912"/>
          </a:xfrm>
          <a:prstGeom prst="rect">
            <a:avLst/>
          </a:prstGeom>
          <a:solidFill>
            <a:srgbClr val="202124"/>
          </a:solidFill>
          <a:ln w="12700">
            <a:solidFill>
              <a:srgbClr val="202124"/>
            </a:solidFill>
            <a:prstDash val="solid"/>
          </a:ln>
        </p:spPr>
      </p:sp>
      <p:sp>
        <p:nvSpPr>
          <p:cNvPr id="14" name="Text 12"/>
          <p:cNvSpPr/>
          <p:nvPr/>
        </p:nvSpPr>
        <p:spPr>
          <a:xfrm>
            <a:off x="3538728" y="1216152"/>
            <a:ext cx="256032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BACKEND</a:t>
            </a:r>
            <a:endParaRPr lang="en-US" sz="1300" dirty="0"/>
          </a:p>
        </p:txBody>
      </p:sp>
      <p:sp>
        <p:nvSpPr>
          <p:cNvPr id="15" name="Text 13"/>
          <p:cNvSpPr/>
          <p:nvPr/>
        </p:nvSpPr>
        <p:spPr>
          <a:xfrm>
            <a:off x="3566160" y="173736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Express + TypeScript</a:t>
            </a:r>
            <a:endParaRPr lang="en-US" sz="1400" dirty="0"/>
          </a:p>
        </p:txBody>
      </p:sp>
      <p:sp>
        <p:nvSpPr>
          <p:cNvPr id="16" name="Text 14"/>
          <p:cNvSpPr/>
          <p:nvPr/>
        </p:nvSpPr>
        <p:spPr>
          <a:xfrm>
            <a:off x="3566160" y="224028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JWT login</a:t>
            </a:r>
            <a:endParaRPr lang="en-US" sz="1400" dirty="0"/>
          </a:p>
        </p:txBody>
      </p:sp>
      <p:sp>
        <p:nvSpPr>
          <p:cNvPr id="17" name="Text 15"/>
          <p:cNvSpPr/>
          <p:nvPr/>
        </p:nvSpPr>
        <p:spPr>
          <a:xfrm>
            <a:off x="3566160" y="274320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Dispatch + scoring</a:t>
            </a:r>
            <a:endParaRPr lang="en-US" sz="1400" dirty="0"/>
          </a:p>
        </p:txBody>
      </p:sp>
      <p:sp>
        <p:nvSpPr>
          <p:cNvPr id="18" name="Text 16"/>
          <p:cNvSpPr/>
          <p:nvPr/>
        </p:nvSpPr>
        <p:spPr>
          <a:xfrm>
            <a:off x="3566160" y="324612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Road reports</a:t>
            </a:r>
            <a:endParaRPr lang="en-US" sz="1400" dirty="0"/>
          </a:p>
        </p:txBody>
      </p:sp>
      <p:sp>
        <p:nvSpPr>
          <p:cNvPr id="19" name="Text 17"/>
          <p:cNvSpPr/>
          <p:nvPr/>
        </p:nvSpPr>
        <p:spPr>
          <a:xfrm>
            <a:off x="3566160" y="374904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Zod input checks</a:t>
            </a:r>
            <a:endParaRPr lang="en-US" sz="1400" dirty="0"/>
          </a:p>
        </p:txBody>
      </p:sp>
      <p:sp>
        <p:nvSpPr>
          <p:cNvPr id="20" name="Shape 18"/>
          <p:cNvSpPr/>
          <p:nvPr/>
        </p:nvSpPr>
        <p:spPr>
          <a:xfrm>
            <a:off x="6355080" y="1143000"/>
            <a:ext cx="2788920" cy="3520440"/>
          </a:xfrm>
          <a:prstGeom prst="rect">
            <a:avLst/>
          </a:prstGeom>
          <a:solidFill>
            <a:srgbClr val="FFFFFF"/>
          </a:solidFill>
          <a:ln w="12700">
            <a:solidFill>
              <a:srgbClr val="DADCE0"/>
            </a:solidFill>
            <a:prstDash val="solid"/>
          </a:ln>
        </p:spPr>
      </p:sp>
      <p:sp>
        <p:nvSpPr>
          <p:cNvPr id="21" name="Shape 19"/>
          <p:cNvSpPr/>
          <p:nvPr/>
        </p:nvSpPr>
        <p:spPr>
          <a:xfrm>
            <a:off x="6355080" y="1143000"/>
            <a:ext cx="2788920" cy="438912"/>
          </a:xfrm>
          <a:prstGeom prst="rect">
            <a:avLst/>
          </a:prstGeom>
          <a:solidFill>
            <a:srgbClr val="202124"/>
          </a:solidFill>
          <a:ln w="12700">
            <a:solidFill>
              <a:srgbClr val="202124"/>
            </a:solidFill>
            <a:prstDash val="solid"/>
          </a:ln>
        </p:spPr>
      </p:sp>
      <p:sp>
        <p:nvSpPr>
          <p:cNvPr id="22" name="Text 20"/>
          <p:cNvSpPr/>
          <p:nvPr/>
        </p:nvSpPr>
        <p:spPr>
          <a:xfrm>
            <a:off x="6464808" y="1216152"/>
            <a:ext cx="256032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DATABASE</a:t>
            </a:r>
            <a:endParaRPr lang="en-US" sz="1300" dirty="0"/>
          </a:p>
        </p:txBody>
      </p:sp>
      <p:sp>
        <p:nvSpPr>
          <p:cNvPr id="23" name="Text 21"/>
          <p:cNvSpPr/>
          <p:nvPr/>
        </p:nvSpPr>
        <p:spPr>
          <a:xfrm>
            <a:off x="6492240" y="173736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PostgreSQL</a:t>
            </a:r>
            <a:endParaRPr lang="en-US" sz="1400" dirty="0"/>
          </a:p>
        </p:txBody>
      </p:sp>
      <p:sp>
        <p:nvSpPr>
          <p:cNvPr id="24" name="Text 22"/>
          <p:cNvSpPr/>
          <p:nvPr/>
        </p:nvSpPr>
        <p:spPr>
          <a:xfrm>
            <a:off x="6492240" y="224028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Prisma</a:t>
            </a:r>
            <a:endParaRPr lang="en-US" sz="1400" dirty="0"/>
          </a:p>
        </p:txBody>
      </p:sp>
      <p:sp>
        <p:nvSpPr>
          <p:cNvPr id="25" name="Text 23"/>
          <p:cNvSpPr/>
          <p:nvPr/>
        </p:nvSpPr>
        <p:spPr>
          <a:xfrm>
            <a:off x="6492240" y="274320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Incidents</a:t>
            </a:r>
            <a:endParaRPr lang="en-US" sz="1400" dirty="0"/>
          </a:p>
        </p:txBody>
      </p:sp>
      <p:sp>
        <p:nvSpPr>
          <p:cNvPr id="26" name="Text 24"/>
          <p:cNvSpPr/>
          <p:nvPr/>
        </p:nvSpPr>
        <p:spPr>
          <a:xfrm>
            <a:off x="6492240" y="324612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Routes and events</a:t>
            </a:r>
            <a:endParaRPr lang="en-US" sz="1400" dirty="0"/>
          </a:p>
        </p:txBody>
      </p:sp>
      <p:sp>
        <p:nvSpPr>
          <p:cNvPr id="27" name="Text 25"/>
          <p:cNvSpPr/>
          <p:nvPr/>
        </p:nvSpPr>
        <p:spPr>
          <a:xfrm>
            <a:off x="6492240" y="374904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Fleet state</a:t>
            </a:r>
            <a:endParaRPr lang="en-US" sz="1400" dirty="0"/>
          </a:p>
        </p:txBody>
      </p:sp>
      <p:sp>
        <p:nvSpPr>
          <p:cNvPr id="28" name="Shape 26"/>
          <p:cNvSpPr/>
          <p:nvPr/>
        </p:nvSpPr>
        <p:spPr>
          <a:xfrm>
            <a:off x="9281160" y="1143000"/>
            <a:ext cx="2788920" cy="3520440"/>
          </a:xfrm>
          <a:prstGeom prst="rect">
            <a:avLst/>
          </a:prstGeom>
          <a:solidFill>
            <a:srgbClr val="FFFFFF"/>
          </a:solidFill>
          <a:ln w="12700">
            <a:solidFill>
              <a:srgbClr val="DADCE0"/>
            </a:solidFill>
            <a:prstDash val="solid"/>
          </a:ln>
        </p:spPr>
      </p:sp>
      <p:sp>
        <p:nvSpPr>
          <p:cNvPr id="29" name="Shape 27"/>
          <p:cNvSpPr/>
          <p:nvPr/>
        </p:nvSpPr>
        <p:spPr>
          <a:xfrm>
            <a:off x="9281160" y="1143000"/>
            <a:ext cx="2788920" cy="438912"/>
          </a:xfrm>
          <a:prstGeom prst="rect">
            <a:avLst/>
          </a:prstGeom>
          <a:solidFill>
            <a:srgbClr val="1A73E8"/>
          </a:solidFill>
          <a:ln w="12700">
            <a:solidFill>
              <a:srgbClr val="1A73E8"/>
            </a:solidFill>
            <a:prstDash val="solid"/>
          </a:ln>
        </p:spPr>
      </p:sp>
      <p:sp>
        <p:nvSpPr>
          <p:cNvPr id="30" name="Text 28"/>
          <p:cNvSpPr/>
          <p:nvPr/>
        </p:nvSpPr>
        <p:spPr>
          <a:xfrm>
            <a:off x="9390888" y="1216152"/>
            <a:ext cx="256032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GOOGLE ROUTES</a:t>
            </a:r>
            <a:endParaRPr lang="en-US" sz="1300" dirty="0"/>
          </a:p>
        </p:txBody>
      </p:sp>
      <p:sp>
        <p:nvSpPr>
          <p:cNvPr id="31" name="Text 29"/>
          <p:cNvSpPr/>
          <p:nvPr/>
        </p:nvSpPr>
        <p:spPr>
          <a:xfrm>
            <a:off x="9418320" y="173736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Server-only call</a:t>
            </a:r>
            <a:endParaRPr lang="en-US" sz="1400" dirty="0"/>
          </a:p>
        </p:txBody>
      </p:sp>
      <p:sp>
        <p:nvSpPr>
          <p:cNvPr id="32" name="Text 30"/>
          <p:cNvSpPr/>
          <p:nvPr/>
        </p:nvSpPr>
        <p:spPr>
          <a:xfrm>
            <a:off x="9418320" y="224028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Real alternatives</a:t>
            </a:r>
            <a:endParaRPr lang="en-US" sz="1400" dirty="0"/>
          </a:p>
        </p:txBody>
      </p:sp>
      <p:sp>
        <p:nvSpPr>
          <p:cNvPr id="33" name="Text 31"/>
          <p:cNvSpPr/>
          <p:nvPr/>
        </p:nvSpPr>
        <p:spPr>
          <a:xfrm>
            <a:off x="9418320" y="274320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ETA and geometry</a:t>
            </a:r>
            <a:endParaRPr lang="en-US" sz="1400" dirty="0"/>
          </a:p>
        </p:txBody>
      </p:sp>
      <p:sp>
        <p:nvSpPr>
          <p:cNvPr id="34" name="Text 32"/>
          <p:cNvSpPr/>
          <p:nvPr/>
        </p:nvSpPr>
        <p:spPr>
          <a:xfrm>
            <a:off x="9418320" y="324612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Traffic-aware times</a:t>
            </a:r>
            <a:endParaRPr lang="en-US" sz="1400" dirty="0"/>
          </a:p>
        </p:txBody>
      </p:sp>
      <p:sp>
        <p:nvSpPr>
          <p:cNvPr id="35" name="Text 33"/>
          <p:cNvSpPr/>
          <p:nvPr/>
        </p:nvSpPr>
        <p:spPr>
          <a:xfrm>
            <a:off x="9418320" y="3749040"/>
            <a:ext cx="2514600" cy="411480"/>
          </a:xfrm>
          <a:prstGeom prst="rect">
            <a:avLst/>
          </a:prstGeom>
          <a:noFill/>
          <a:ln/>
        </p:spPr>
        <p:txBody>
          <a:bodyPr wrap="square" lIns="0" tIns="0" rIns="0" bIns="0" rtlCol="0" anchor="ctr"/>
          <a:lstStyle/>
          <a:p>
            <a:pPr indent="0" marL="0">
              <a:buNone/>
            </a:pPr>
            <a:r>
              <a:rPr lang="en-US" sz="1400" dirty="0">
                <a:solidFill>
                  <a:srgbClr val="202124"/>
                </a:solidFill>
                <a:latin typeface="Arial" pitchFamily="34" charset="0"/>
                <a:ea typeface="Arial" pitchFamily="34" charset="-122"/>
                <a:cs typeface="Arial" pitchFamily="34" charset="-120"/>
              </a:rPr>
              <a:t>Never from the browser</a:t>
            </a:r>
            <a:endParaRPr lang="en-US" sz="1400" dirty="0"/>
          </a:p>
        </p:txBody>
      </p:sp>
      <p:sp>
        <p:nvSpPr>
          <p:cNvPr id="36" name="Shape 34"/>
          <p:cNvSpPr/>
          <p:nvPr/>
        </p:nvSpPr>
        <p:spPr>
          <a:xfrm>
            <a:off x="502920" y="4846320"/>
            <a:ext cx="11201400" cy="1417320"/>
          </a:xfrm>
          <a:prstGeom prst="rect">
            <a:avLst/>
          </a:prstGeom>
          <a:solidFill>
            <a:srgbClr val="FFFFFF"/>
          </a:solidFill>
          <a:ln w="12700">
            <a:solidFill>
              <a:srgbClr val="DADCE0"/>
            </a:solidFill>
            <a:prstDash val="solid"/>
          </a:ln>
        </p:spPr>
      </p:sp>
      <p:sp>
        <p:nvSpPr>
          <p:cNvPr id="37" name="Text 35"/>
          <p:cNvSpPr/>
          <p:nvPr/>
        </p:nvSpPr>
        <p:spPr>
          <a:xfrm>
            <a:off x="685800" y="4956048"/>
            <a:ext cx="10972800" cy="256032"/>
          </a:xfrm>
          <a:prstGeom prst="rect">
            <a:avLst/>
          </a:prstGeom>
          <a:noFill/>
          <a:ln/>
        </p:spPr>
        <p:txBody>
          <a:bodyPr wrap="square" lIns="0" tIns="0" rIns="0" bIns="0" rtlCol="0" anchor="ctr"/>
          <a:lstStyle/>
          <a:p>
            <a:pPr indent="0" marL="0">
              <a:buNone/>
            </a:pPr>
            <a:r>
              <a:rPr lang="en-US" sz="1400" b="1" dirty="0">
                <a:solidFill>
                  <a:srgbClr val="5F6368"/>
                </a:solidFill>
                <a:latin typeface="Arial" pitchFamily="34" charset="0"/>
                <a:ea typeface="Arial" pitchFamily="34" charset="-122"/>
                <a:cs typeface="Arial" pitchFamily="34" charset="-120"/>
              </a:rPr>
              <a:t>Two keys. Two jobs.</a:t>
            </a:r>
            <a:endParaRPr lang="en-US" sz="1400" dirty="0"/>
          </a:p>
        </p:txBody>
      </p:sp>
      <p:sp>
        <p:nvSpPr>
          <p:cNvPr id="38" name="Text 36"/>
          <p:cNvSpPr/>
          <p:nvPr/>
        </p:nvSpPr>
        <p:spPr>
          <a:xfrm>
            <a:off x="685800" y="5285232"/>
            <a:ext cx="10972800" cy="731520"/>
          </a:xfrm>
          <a:prstGeom prst="rect">
            <a:avLst/>
          </a:prstGeom>
          <a:noFill/>
          <a:ln/>
        </p:spPr>
        <p:txBody>
          <a:bodyPr wrap="square" lIns="0" tIns="0" rIns="0" bIns="0" rtlCol="0" anchor="ctr"/>
          <a:lstStyle/>
          <a:p>
            <a:pPr indent="0" marL="0">
              <a:buNone/>
            </a:pPr>
            <a:r>
              <a:rPr lang="en-US" sz="1600" dirty="0">
                <a:solidFill>
                  <a:srgbClr val="202124"/>
                </a:solidFill>
                <a:latin typeface="Arial" pitchFamily="34" charset="0"/>
                <a:ea typeface="Arial" pitchFamily="34" charset="-122"/>
                <a:cs typeface="Arial" pitchFamily="34" charset="-120"/>
              </a:rPr>
              <a:t>Browser key draws the map. Server key calls Routes API. The frontend never calls Google Routes. Keys are not on GitHub.</a:t>
            </a:r>
            <a:endParaRPr lang="en-US" sz="1600" dirty="0"/>
          </a:p>
        </p:txBody>
      </p:sp>
      <p:sp>
        <p:nvSpPr>
          <p:cNvPr id="39" name="Shape 37"/>
          <p:cNvSpPr/>
          <p:nvPr/>
        </p:nvSpPr>
        <p:spPr>
          <a:xfrm>
            <a:off x="0" y="6656832"/>
            <a:ext cx="12191695" cy="201168"/>
          </a:xfrm>
          <a:prstGeom prst="rect">
            <a:avLst/>
          </a:prstGeom>
          <a:solidFill>
            <a:srgbClr val="EEF1F4"/>
          </a:solidFill>
          <a:ln w="12700">
            <a:solidFill>
              <a:srgbClr val="EEF1F4"/>
            </a:solidFill>
            <a:prstDash val="solid"/>
          </a:ln>
        </p:spPr>
      </p:sp>
      <p:sp>
        <p:nvSpPr>
          <p:cNvPr id="40" name="Text 38"/>
          <p:cNvSpPr/>
          <p:nvPr/>
        </p:nvSpPr>
        <p:spPr>
          <a:xfrm>
            <a:off x="502920" y="6656832"/>
            <a:ext cx="5486400" cy="20116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RapidRoute  ·  RIH-PS-011</a:t>
            </a:r>
            <a:endParaRPr lang="en-US" sz="1000" dirty="0"/>
          </a:p>
        </p:txBody>
      </p:sp>
      <p:sp>
        <p:nvSpPr>
          <p:cNvPr id="41" name="Text 39"/>
          <p:cNvSpPr/>
          <p:nvPr/>
        </p:nvSpPr>
        <p:spPr>
          <a:xfrm>
            <a:off x="11338560" y="6656832"/>
            <a:ext cx="457200" cy="201168"/>
          </a:xfrm>
          <a:prstGeom prst="rect">
            <a:avLst/>
          </a:prstGeom>
          <a:noFill/>
          <a:ln/>
        </p:spPr>
        <p:txBody>
          <a:bodyPr wrap="square" lIns="0" tIns="0" rIns="0" bIns="0" rtlCol="0" anchor="ctr"/>
          <a:lstStyle/>
          <a:p>
            <a:pPr algn="r" indent="0" marL="0">
              <a:buNone/>
            </a:pPr>
            <a:r>
              <a:rPr lang="en-US" sz="1000" dirty="0">
                <a:solidFill>
                  <a:srgbClr val="5F6368"/>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02920" y="201168"/>
            <a:ext cx="7315200" cy="201168"/>
          </a:xfrm>
          <a:prstGeom prst="rect">
            <a:avLst/>
          </a:prstGeom>
          <a:noFill/>
          <a:ln/>
        </p:spPr>
        <p:txBody>
          <a:bodyPr wrap="square" lIns="0" tIns="0" rIns="0" bIns="0" rtlCol="0" anchor="ctr"/>
          <a:lstStyle/>
          <a:p>
            <a:pPr indent="0" marL="0">
              <a:buNone/>
            </a:pPr>
            <a:r>
              <a:rPr lang="en-US" sz="1100" b="1" spc="140" kern="0" dirty="0">
                <a:solidFill>
                  <a:srgbClr val="5F6368"/>
                </a:solidFill>
                <a:latin typeface="Arial" pitchFamily="34" charset="0"/>
                <a:ea typeface="Arial" pitchFamily="34" charset="-122"/>
                <a:cs typeface="Arial" pitchFamily="34" charset="-120"/>
              </a:rPr>
              <a:t>TRUST</a:t>
            </a:r>
            <a:endParaRPr lang="en-US" sz="1100" dirty="0"/>
          </a:p>
        </p:txBody>
      </p:sp>
      <p:sp>
        <p:nvSpPr>
          <p:cNvPr id="3" name="Text 1"/>
          <p:cNvSpPr/>
          <p:nvPr/>
        </p:nvSpPr>
        <p:spPr>
          <a:xfrm>
            <a:off x="502920" y="438912"/>
            <a:ext cx="11155680" cy="457200"/>
          </a:xfrm>
          <a:prstGeom prst="rect">
            <a:avLst/>
          </a:prstGeom>
          <a:noFill/>
          <a:ln/>
        </p:spPr>
        <p:txBody>
          <a:bodyPr wrap="square" lIns="0" tIns="0" rIns="0" bIns="0" rtlCol="0" anchor="ctr"/>
          <a:lstStyle/>
          <a:p>
            <a:pPr indent="0" marL="0">
              <a:buNone/>
            </a:pPr>
            <a:r>
              <a:rPr lang="en-US" sz="2800" b="1" dirty="0">
                <a:solidFill>
                  <a:srgbClr val="202124"/>
                </a:solidFill>
                <a:latin typeface="Arial" pitchFamily="34" charset="0"/>
                <a:ea typeface="Arial" pitchFamily="34" charset="-122"/>
                <a:cs typeface="Arial" pitchFamily="34" charset="-120"/>
              </a:rPr>
              <a:t>Designed for controlled decisions</a:t>
            </a:r>
            <a:endParaRPr lang="en-US" sz="2800" dirty="0"/>
          </a:p>
        </p:txBody>
      </p:sp>
      <p:sp>
        <p:nvSpPr>
          <p:cNvPr id="4" name="Shape 2"/>
          <p:cNvSpPr/>
          <p:nvPr/>
        </p:nvSpPr>
        <p:spPr>
          <a:xfrm>
            <a:off x="502920" y="1188720"/>
            <a:ext cx="5623560" cy="2148840"/>
          </a:xfrm>
          <a:prstGeom prst="rect">
            <a:avLst/>
          </a:prstGeom>
          <a:solidFill>
            <a:srgbClr val="FFFFFF"/>
          </a:solidFill>
          <a:ln w="12700">
            <a:solidFill>
              <a:srgbClr val="DADCE0"/>
            </a:solidFill>
            <a:prstDash val="solid"/>
          </a:ln>
        </p:spPr>
      </p:sp>
      <p:sp>
        <p:nvSpPr>
          <p:cNvPr id="5" name="Shape 3"/>
          <p:cNvSpPr/>
          <p:nvPr/>
        </p:nvSpPr>
        <p:spPr>
          <a:xfrm>
            <a:off x="502920" y="1188720"/>
            <a:ext cx="91440" cy="2148840"/>
          </a:xfrm>
          <a:prstGeom prst="rect">
            <a:avLst/>
          </a:prstGeom>
          <a:solidFill>
            <a:srgbClr val="D93025"/>
          </a:solidFill>
          <a:ln w="12700">
            <a:solidFill>
              <a:srgbClr val="D93025"/>
            </a:solidFill>
            <a:prstDash val="solid"/>
          </a:ln>
        </p:spPr>
      </p:sp>
      <p:sp>
        <p:nvSpPr>
          <p:cNvPr id="6" name="Text 4"/>
          <p:cNvSpPr/>
          <p:nvPr/>
        </p:nvSpPr>
        <p:spPr>
          <a:xfrm>
            <a:off x="822960" y="1444752"/>
            <a:ext cx="5074920" cy="365760"/>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BLOCKED</a:t>
            </a:r>
            <a:endParaRPr lang="en-US" sz="1800" dirty="0"/>
          </a:p>
        </p:txBody>
      </p:sp>
      <p:sp>
        <p:nvSpPr>
          <p:cNvPr id="7" name="Text 5"/>
          <p:cNvSpPr/>
          <p:nvPr/>
        </p:nvSpPr>
        <p:spPr>
          <a:xfrm>
            <a:off x="822960" y="1965960"/>
            <a:ext cx="5074920" cy="109728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That candidate is removed before scoring. It is never a trade-off in the formula.</a:t>
            </a:r>
            <a:endParaRPr lang="en-US" sz="1600" dirty="0"/>
          </a:p>
        </p:txBody>
      </p:sp>
      <p:sp>
        <p:nvSpPr>
          <p:cNvPr id="8" name="Shape 6"/>
          <p:cNvSpPr/>
          <p:nvPr/>
        </p:nvSpPr>
        <p:spPr>
          <a:xfrm>
            <a:off x="6309360" y="1188720"/>
            <a:ext cx="5623560" cy="2148840"/>
          </a:xfrm>
          <a:prstGeom prst="rect">
            <a:avLst/>
          </a:prstGeom>
          <a:solidFill>
            <a:srgbClr val="FFFFFF"/>
          </a:solidFill>
          <a:ln w="12700">
            <a:solidFill>
              <a:srgbClr val="DADCE0"/>
            </a:solidFill>
            <a:prstDash val="solid"/>
          </a:ln>
        </p:spPr>
      </p:sp>
      <p:sp>
        <p:nvSpPr>
          <p:cNvPr id="9" name="Shape 7"/>
          <p:cNvSpPr/>
          <p:nvPr/>
        </p:nvSpPr>
        <p:spPr>
          <a:xfrm>
            <a:off x="6309360" y="1188720"/>
            <a:ext cx="91440" cy="2148840"/>
          </a:xfrm>
          <a:prstGeom prst="rect">
            <a:avLst/>
          </a:prstGeom>
          <a:solidFill>
            <a:srgbClr val="202124"/>
          </a:solidFill>
          <a:ln w="12700">
            <a:solidFill>
              <a:srgbClr val="202124"/>
            </a:solidFill>
            <a:prstDash val="solid"/>
          </a:ln>
        </p:spPr>
      </p:sp>
      <p:sp>
        <p:nvSpPr>
          <p:cNvPr id="10" name="Text 8"/>
          <p:cNvSpPr/>
          <p:nvPr/>
        </p:nvSpPr>
        <p:spPr>
          <a:xfrm>
            <a:off x="6629400" y="1444752"/>
            <a:ext cx="5074920" cy="365760"/>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NO SUITABLE ROUTE</a:t>
            </a:r>
            <a:endParaRPr lang="en-US" sz="1800" dirty="0"/>
          </a:p>
        </p:txBody>
      </p:sp>
      <p:sp>
        <p:nvSpPr>
          <p:cNvPr id="11" name="Text 9"/>
          <p:cNvSpPr/>
          <p:nvPr/>
        </p:nvSpPr>
        <p:spPr>
          <a:xfrm>
            <a:off x="6629400" y="1965960"/>
            <a:ext cx="5074920" cy="109728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If every corridor is blocked we say so. We do not invent a safe path.</a:t>
            </a:r>
            <a:endParaRPr lang="en-US" sz="1600" dirty="0"/>
          </a:p>
        </p:txBody>
      </p:sp>
      <p:sp>
        <p:nvSpPr>
          <p:cNvPr id="12" name="Shape 10"/>
          <p:cNvSpPr/>
          <p:nvPr/>
        </p:nvSpPr>
        <p:spPr>
          <a:xfrm>
            <a:off x="502920" y="3520440"/>
            <a:ext cx="5623560" cy="2148840"/>
          </a:xfrm>
          <a:prstGeom prst="rect">
            <a:avLst/>
          </a:prstGeom>
          <a:solidFill>
            <a:srgbClr val="FFFFFF"/>
          </a:solidFill>
          <a:ln w="12700">
            <a:solidFill>
              <a:srgbClr val="DADCE0"/>
            </a:solidFill>
            <a:prstDash val="solid"/>
          </a:ln>
        </p:spPr>
      </p:sp>
      <p:sp>
        <p:nvSpPr>
          <p:cNvPr id="13" name="Shape 11"/>
          <p:cNvSpPr/>
          <p:nvPr/>
        </p:nvSpPr>
        <p:spPr>
          <a:xfrm>
            <a:off x="502920" y="3520440"/>
            <a:ext cx="91440" cy="2148840"/>
          </a:xfrm>
          <a:prstGeom prst="rect">
            <a:avLst/>
          </a:prstGeom>
          <a:solidFill>
            <a:srgbClr val="E37400"/>
          </a:solidFill>
          <a:ln w="12700">
            <a:solidFill>
              <a:srgbClr val="E37400"/>
            </a:solidFill>
            <a:prstDash val="solid"/>
          </a:ln>
        </p:spPr>
      </p:sp>
      <p:sp>
        <p:nvSpPr>
          <p:cNvPr id="14" name="Text 12"/>
          <p:cNvSpPr/>
          <p:nvPr/>
        </p:nvSpPr>
        <p:spPr>
          <a:xfrm>
            <a:off x="822960" y="3776472"/>
            <a:ext cx="5074920" cy="365760"/>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GOOGLE UNAVAILABLE</a:t>
            </a:r>
            <a:endParaRPr lang="en-US" sz="1800" dirty="0"/>
          </a:p>
        </p:txBody>
      </p:sp>
      <p:sp>
        <p:nvSpPr>
          <p:cNvPr id="15" name="Text 13"/>
          <p:cNvSpPr/>
          <p:nvPr/>
        </p:nvSpPr>
        <p:spPr>
          <a:xfrm>
            <a:off x="822960" y="4297680"/>
            <a:ext cx="5074920" cy="109728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DEMO SIMULATION fixtures, clearly labelled. Scoring still runs the same way.</a:t>
            </a:r>
            <a:endParaRPr lang="en-US" sz="1600" dirty="0"/>
          </a:p>
        </p:txBody>
      </p:sp>
      <p:sp>
        <p:nvSpPr>
          <p:cNvPr id="16" name="Shape 14"/>
          <p:cNvSpPr/>
          <p:nvPr/>
        </p:nvSpPr>
        <p:spPr>
          <a:xfrm>
            <a:off x="6309360" y="3520440"/>
            <a:ext cx="5623560" cy="2148840"/>
          </a:xfrm>
          <a:prstGeom prst="rect">
            <a:avLst/>
          </a:prstGeom>
          <a:solidFill>
            <a:srgbClr val="FFFFFF"/>
          </a:solidFill>
          <a:ln w="12700">
            <a:solidFill>
              <a:srgbClr val="DADCE0"/>
            </a:solidFill>
            <a:prstDash val="solid"/>
          </a:ln>
        </p:spPr>
      </p:sp>
      <p:sp>
        <p:nvSpPr>
          <p:cNvPr id="17" name="Shape 15"/>
          <p:cNvSpPr/>
          <p:nvPr/>
        </p:nvSpPr>
        <p:spPr>
          <a:xfrm>
            <a:off x="6309360" y="3520440"/>
            <a:ext cx="91440" cy="2148840"/>
          </a:xfrm>
          <a:prstGeom prst="rect">
            <a:avLst/>
          </a:prstGeom>
          <a:solidFill>
            <a:srgbClr val="188038"/>
          </a:solidFill>
          <a:ln w="12700">
            <a:solidFill>
              <a:srgbClr val="188038"/>
            </a:solidFill>
            <a:prstDash val="solid"/>
          </a:ln>
        </p:spPr>
      </p:sp>
      <p:sp>
        <p:nvSpPr>
          <p:cNvPr id="18" name="Text 16"/>
          <p:cNvSpPr/>
          <p:nvPr/>
        </p:nvSpPr>
        <p:spPr>
          <a:xfrm>
            <a:off x="6629400" y="3776472"/>
            <a:ext cx="5074920" cy="365760"/>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NOT A BLACK BOX</a:t>
            </a:r>
            <a:endParaRPr lang="en-US" sz="1800" dirty="0"/>
          </a:p>
        </p:txBody>
      </p:sp>
      <p:sp>
        <p:nvSpPr>
          <p:cNvPr id="19" name="Text 17"/>
          <p:cNvSpPr/>
          <p:nvPr/>
        </p:nvSpPr>
        <p:spPr>
          <a:xfrm>
            <a:off x="6629400" y="4297680"/>
            <a:ext cx="5074920" cy="109728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Published weights. Why this route on screen. No trained model.</a:t>
            </a:r>
            <a:endParaRPr lang="en-US" sz="1600" dirty="0"/>
          </a:p>
        </p:txBody>
      </p:sp>
      <p:sp>
        <p:nvSpPr>
          <p:cNvPr id="20" name="Shape 18"/>
          <p:cNvSpPr/>
          <p:nvPr/>
        </p:nvSpPr>
        <p:spPr>
          <a:xfrm>
            <a:off x="0" y="6656832"/>
            <a:ext cx="12191695" cy="201168"/>
          </a:xfrm>
          <a:prstGeom prst="rect">
            <a:avLst/>
          </a:prstGeom>
          <a:solidFill>
            <a:srgbClr val="EEF1F4"/>
          </a:solidFill>
          <a:ln w="12700">
            <a:solidFill>
              <a:srgbClr val="EEF1F4"/>
            </a:solidFill>
            <a:prstDash val="solid"/>
          </a:ln>
        </p:spPr>
      </p:sp>
      <p:sp>
        <p:nvSpPr>
          <p:cNvPr id="21" name="Text 19"/>
          <p:cNvSpPr/>
          <p:nvPr/>
        </p:nvSpPr>
        <p:spPr>
          <a:xfrm>
            <a:off x="502920" y="6656832"/>
            <a:ext cx="5486400" cy="20116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RapidRoute  ·  RIH-PS-011</a:t>
            </a:r>
            <a:endParaRPr lang="en-US" sz="1000" dirty="0"/>
          </a:p>
        </p:txBody>
      </p:sp>
      <p:sp>
        <p:nvSpPr>
          <p:cNvPr id="22" name="Text 20"/>
          <p:cNvSpPr/>
          <p:nvPr/>
        </p:nvSpPr>
        <p:spPr>
          <a:xfrm>
            <a:off x="11338560" y="6656832"/>
            <a:ext cx="457200" cy="201168"/>
          </a:xfrm>
          <a:prstGeom prst="rect">
            <a:avLst/>
          </a:prstGeom>
          <a:noFill/>
          <a:ln/>
        </p:spPr>
        <p:txBody>
          <a:bodyPr wrap="square" lIns="0" tIns="0" rIns="0" bIns="0" rtlCol="0" anchor="ctr"/>
          <a:lstStyle/>
          <a:p>
            <a:pPr algn="r" indent="0" marL="0">
              <a:buNone/>
            </a:pPr>
            <a:r>
              <a:rPr lang="en-US" sz="1000" dirty="0">
                <a:solidFill>
                  <a:srgbClr val="5F6368"/>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502920" y="201168"/>
            <a:ext cx="7315200" cy="201168"/>
          </a:xfrm>
          <a:prstGeom prst="rect">
            <a:avLst/>
          </a:prstGeom>
          <a:noFill/>
          <a:ln/>
        </p:spPr>
        <p:txBody>
          <a:bodyPr wrap="square" lIns="0" tIns="0" rIns="0" bIns="0" rtlCol="0" anchor="ctr"/>
          <a:lstStyle/>
          <a:p>
            <a:pPr indent="0" marL="0">
              <a:buNone/>
            </a:pPr>
            <a:r>
              <a:rPr lang="en-US" sz="1100" b="1" spc="140" kern="0" dirty="0">
                <a:solidFill>
                  <a:srgbClr val="5F6368"/>
                </a:solidFill>
                <a:latin typeface="Arial" pitchFamily="34" charset="0"/>
                <a:ea typeface="Arial" pitchFamily="34" charset="-122"/>
                <a:cs typeface="Arial" pitchFamily="34" charset="-120"/>
              </a:rPr>
              <a:t>EVALUATOR</a:t>
            </a:r>
            <a:endParaRPr lang="en-US" sz="1100" dirty="0"/>
          </a:p>
        </p:txBody>
      </p:sp>
      <p:sp>
        <p:nvSpPr>
          <p:cNvPr id="3" name="Text 1"/>
          <p:cNvSpPr/>
          <p:nvPr/>
        </p:nvSpPr>
        <p:spPr>
          <a:xfrm>
            <a:off x="502920" y="438912"/>
            <a:ext cx="11155680" cy="457200"/>
          </a:xfrm>
          <a:prstGeom prst="rect">
            <a:avLst/>
          </a:prstGeom>
          <a:noFill/>
          <a:ln/>
        </p:spPr>
        <p:txBody>
          <a:bodyPr wrap="square" lIns="0" tIns="0" rIns="0" bIns="0" rtlCol="0" anchor="ctr"/>
          <a:lstStyle/>
          <a:p>
            <a:pPr indent="0" marL="0">
              <a:buNone/>
            </a:pPr>
            <a:r>
              <a:rPr lang="en-US" sz="2800" b="1" dirty="0">
                <a:solidFill>
                  <a:srgbClr val="202124"/>
                </a:solidFill>
                <a:latin typeface="Arial" pitchFamily="34" charset="0"/>
                <a:ea typeface="Arial" pitchFamily="34" charset="-122"/>
                <a:cs typeface="Arial" pitchFamily="34" charset="-120"/>
              </a:rPr>
              <a:t>Can the decision engine handle changing conditions?</a:t>
            </a:r>
            <a:endParaRPr lang="en-US" sz="2800" dirty="0"/>
          </a:p>
        </p:txBody>
      </p:sp>
      <p:sp>
        <p:nvSpPr>
          <p:cNvPr id="4" name="Text 2"/>
          <p:cNvSpPr/>
          <p:nvPr/>
        </p:nvSpPr>
        <p:spPr>
          <a:xfrm>
            <a:off x="502920" y="1051560"/>
            <a:ext cx="11155680" cy="274320"/>
          </a:xfrm>
          <a:prstGeom prst="rect">
            <a:avLst/>
          </a:prstGeom>
          <a:noFill/>
          <a:ln/>
        </p:spPr>
        <p:txBody>
          <a:bodyPr wrap="square" lIns="0" tIns="0" rIns="0" bIns="0" rtlCol="0" anchor="ctr"/>
          <a:lstStyle/>
          <a:p>
            <a:pPr indent="0" marL="0">
              <a:buNone/>
            </a:pPr>
            <a:r>
              <a:rPr lang="en-US" sz="1500" dirty="0">
                <a:solidFill>
                  <a:srgbClr val="5F6368"/>
                </a:solidFill>
                <a:latin typeface="Arial" pitchFamily="34" charset="0"/>
                <a:ea typeface="Arial" pitchFamily="34" charset="-122"/>
                <a:cs typeface="Arial" pitchFamily="34" charset="-120"/>
              </a:rPr>
              <a:t>Isolated scoring checks on a fixed CSV / JSON schema. Not live GPS.</a:t>
            </a:r>
            <a:endParaRPr lang="en-US" sz="1500" dirty="0"/>
          </a:p>
        </p:txBody>
      </p:sp>
      <p:sp>
        <p:nvSpPr>
          <p:cNvPr id="5" name="Shape 3"/>
          <p:cNvSpPr/>
          <p:nvPr/>
        </p:nvSpPr>
        <p:spPr>
          <a:xfrm>
            <a:off x="502920" y="1463040"/>
            <a:ext cx="5623560" cy="2011680"/>
          </a:xfrm>
          <a:prstGeom prst="rect">
            <a:avLst/>
          </a:prstGeom>
          <a:solidFill>
            <a:srgbClr val="FFFFFF"/>
          </a:solidFill>
          <a:ln w="12700">
            <a:solidFill>
              <a:srgbClr val="DADCE0"/>
            </a:solidFill>
            <a:prstDash val="solid"/>
          </a:ln>
        </p:spPr>
      </p:sp>
      <p:sp>
        <p:nvSpPr>
          <p:cNvPr id="6" name="Text 4"/>
          <p:cNvSpPr/>
          <p:nvPr/>
        </p:nvSpPr>
        <p:spPr>
          <a:xfrm>
            <a:off x="731520" y="1691640"/>
            <a:ext cx="1005840" cy="365760"/>
          </a:xfrm>
          <a:prstGeom prst="rect">
            <a:avLst/>
          </a:prstGeom>
          <a:noFill/>
          <a:ln/>
        </p:spPr>
        <p:txBody>
          <a:bodyPr wrap="square" lIns="0" tIns="0" rIns="0" bIns="0" rtlCol="0" anchor="ctr"/>
          <a:lstStyle/>
          <a:p>
            <a:pPr indent="0" marL="0">
              <a:buNone/>
            </a:pPr>
            <a:r>
              <a:rPr lang="en-US" sz="2000" b="1" dirty="0">
                <a:solidFill>
                  <a:srgbClr val="1A73E8"/>
                </a:solidFill>
                <a:latin typeface="Arial" pitchFamily="34" charset="0"/>
                <a:ea typeface="Arial" pitchFamily="34" charset="-122"/>
                <a:cs typeface="Arial" pitchFamily="34" charset="-120"/>
              </a:rPr>
              <a:t>01</a:t>
            </a:r>
            <a:endParaRPr lang="en-US" sz="2000" dirty="0"/>
          </a:p>
        </p:txBody>
      </p:sp>
      <p:sp>
        <p:nvSpPr>
          <p:cNvPr id="7" name="Text 5"/>
          <p:cNvSpPr/>
          <p:nvPr/>
        </p:nvSpPr>
        <p:spPr>
          <a:xfrm>
            <a:off x="1783080" y="1737360"/>
            <a:ext cx="4069080" cy="320040"/>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Low traffic</a:t>
            </a:r>
            <a:endParaRPr lang="en-US" sz="1800" dirty="0"/>
          </a:p>
        </p:txBody>
      </p:sp>
      <p:sp>
        <p:nvSpPr>
          <p:cNvPr id="8" name="Text 6"/>
          <p:cNvSpPr/>
          <p:nvPr/>
        </p:nvSpPr>
        <p:spPr>
          <a:xfrm>
            <a:off x="731520" y="2286000"/>
            <a:ext cx="5166360" cy="914400"/>
          </a:xfrm>
          <a:prstGeom prst="rect">
            <a:avLst/>
          </a:prstGeom>
          <a:noFill/>
          <a:ln/>
        </p:spPr>
        <p:txBody>
          <a:bodyPr wrap="square" lIns="0" tIns="0" rIns="0" bIns="0" rtlCol="0" anchor="ctr"/>
          <a:lstStyle/>
          <a:p>
            <a:pPr indent="0" marL="0">
              <a:buNone/>
            </a:pPr>
            <a:r>
              <a:rPr lang="en-US" sz="1500" dirty="0">
                <a:solidFill>
                  <a:srgbClr val="5F6368"/>
                </a:solidFill>
                <a:latin typeface="Arial" pitchFamily="34" charset="0"/>
                <a:ea typeface="Arial" pitchFamily="34" charset="-122"/>
                <a:cs typeface="Arial" pitchFamily="34" charset="-120"/>
              </a:rPr>
              <a:t>Several clear corridors. Pick the fastest low-traffic one.</a:t>
            </a:r>
            <a:endParaRPr lang="en-US" sz="1500" dirty="0"/>
          </a:p>
        </p:txBody>
      </p:sp>
      <p:sp>
        <p:nvSpPr>
          <p:cNvPr id="9" name="Shape 7"/>
          <p:cNvSpPr/>
          <p:nvPr/>
        </p:nvSpPr>
        <p:spPr>
          <a:xfrm>
            <a:off x="6309360" y="1463040"/>
            <a:ext cx="5623560" cy="2011680"/>
          </a:xfrm>
          <a:prstGeom prst="rect">
            <a:avLst/>
          </a:prstGeom>
          <a:solidFill>
            <a:srgbClr val="FFFFFF"/>
          </a:solidFill>
          <a:ln w="12700">
            <a:solidFill>
              <a:srgbClr val="DADCE0"/>
            </a:solidFill>
            <a:prstDash val="solid"/>
          </a:ln>
        </p:spPr>
      </p:sp>
      <p:sp>
        <p:nvSpPr>
          <p:cNvPr id="10" name="Text 8"/>
          <p:cNvSpPr/>
          <p:nvPr/>
        </p:nvSpPr>
        <p:spPr>
          <a:xfrm>
            <a:off x="6537960" y="1691640"/>
            <a:ext cx="1005840" cy="365760"/>
          </a:xfrm>
          <a:prstGeom prst="rect">
            <a:avLst/>
          </a:prstGeom>
          <a:noFill/>
          <a:ln/>
        </p:spPr>
        <p:txBody>
          <a:bodyPr wrap="square" lIns="0" tIns="0" rIns="0" bIns="0" rtlCol="0" anchor="ctr"/>
          <a:lstStyle/>
          <a:p>
            <a:pPr indent="0" marL="0">
              <a:buNone/>
            </a:pPr>
            <a:r>
              <a:rPr lang="en-US" sz="2000" b="1" dirty="0">
                <a:solidFill>
                  <a:srgbClr val="1A73E8"/>
                </a:solidFill>
                <a:latin typeface="Arial" pitchFamily="34" charset="0"/>
                <a:ea typeface="Arial" pitchFamily="34" charset="-122"/>
                <a:cs typeface="Arial" pitchFamily="34" charset="-120"/>
              </a:rPr>
              <a:t>02</a:t>
            </a:r>
            <a:endParaRPr lang="en-US" sz="2000" dirty="0"/>
          </a:p>
        </p:txBody>
      </p:sp>
      <p:sp>
        <p:nvSpPr>
          <p:cNvPr id="11" name="Text 9"/>
          <p:cNvSpPr/>
          <p:nvPr/>
        </p:nvSpPr>
        <p:spPr>
          <a:xfrm>
            <a:off x="7589520" y="1737360"/>
            <a:ext cx="4069080" cy="320040"/>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Heavy traffic</a:t>
            </a:r>
            <a:endParaRPr lang="en-US" sz="1800" dirty="0"/>
          </a:p>
        </p:txBody>
      </p:sp>
      <p:sp>
        <p:nvSpPr>
          <p:cNvPr id="12" name="Text 10"/>
          <p:cNvSpPr/>
          <p:nvPr/>
        </p:nvSpPr>
        <p:spPr>
          <a:xfrm>
            <a:off x="6537960" y="2286000"/>
            <a:ext cx="5166360" cy="914400"/>
          </a:xfrm>
          <a:prstGeom prst="rect">
            <a:avLst/>
          </a:prstGeom>
          <a:noFill/>
          <a:ln/>
        </p:spPr>
        <p:txBody>
          <a:bodyPr wrap="square" lIns="0" tIns="0" rIns="0" bIns="0" rtlCol="0" anchor="ctr"/>
          <a:lstStyle/>
          <a:p>
            <a:pPr indent="0" marL="0">
              <a:buNone/>
            </a:pPr>
            <a:r>
              <a:rPr lang="en-US" sz="1500" dirty="0">
                <a:solidFill>
                  <a:srgbClr val="5F6368"/>
                </a:solidFill>
                <a:latin typeface="Arial" pitchFamily="34" charset="0"/>
                <a:ea typeface="Arial" pitchFamily="34" charset="-122"/>
                <a:cs typeface="Arial" pitchFamily="34" charset="-120"/>
              </a:rPr>
              <a:t>Primary corridor is congested. Skip it. Take a clearer one.</a:t>
            </a:r>
            <a:endParaRPr lang="en-US" sz="1500" dirty="0"/>
          </a:p>
        </p:txBody>
      </p:sp>
      <p:sp>
        <p:nvSpPr>
          <p:cNvPr id="13" name="Shape 11"/>
          <p:cNvSpPr/>
          <p:nvPr/>
        </p:nvSpPr>
        <p:spPr>
          <a:xfrm>
            <a:off x="502920" y="3657600"/>
            <a:ext cx="5623560" cy="2011680"/>
          </a:xfrm>
          <a:prstGeom prst="rect">
            <a:avLst/>
          </a:prstGeom>
          <a:solidFill>
            <a:srgbClr val="FFFFFF"/>
          </a:solidFill>
          <a:ln w="12700">
            <a:solidFill>
              <a:srgbClr val="DADCE0"/>
            </a:solidFill>
            <a:prstDash val="solid"/>
          </a:ln>
        </p:spPr>
      </p:sp>
      <p:sp>
        <p:nvSpPr>
          <p:cNvPr id="14" name="Text 12"/>
          <p:cNvSpPr/>
          <p:nvPr/>
        </p:nvSpPr>
        <p:spPr>
          <a:xfrm>
            <a:off x="731520" y="3886200"/>
            <a:ext cx="1005840" cy="365760"/>
          </a:xfrm>
          <a:prstGeom prst="rect">
            <a:avLst/>
          </a:prstGeom>
          <a:noFill/>
          <a:ln/>
        </p:spPr>
        <p:txBody>
          <a:bodyPr wrap="square" lIns="0" tIns="0" rIns="0" bIns="0" rtlCol="0" anchor="ctr"/>
          <a:lstStyle/>
          <a:p>
            <a:pPr indent="0" marL="0">
              <a:buNone/>
            </a:pPr>
            <a:r>
              <a:rPr lang="en-US" sz="2000" b="1" dirty="0">
                <a:solidFill>
                  <a:srgbClr val="1A73E8"/>
                </a:solidFill>
                <a:latin typeface="Arial" pitchFamily="34" charset="0"/>
                <a:ea typeface="Arial" pitchFamily="34" charset="-122"/>
                <a:cs typeface="Arial" pitchFamily="34" charset="-120"/>
              </a:rPr>
              <a:t>03</a:t>
            </a:r>
            <a:endParaRPr lang="en-US" sz="2000" dirty="0"/>
          </a:p>
        </p:txBody>
      </p:sp>
      <p:sp>
        <p:nvSpPr>
          <p:cNvPr id="15" name="Text 13"/>
          <p:cNvSpPr/>
          <p:nvPr/>
        </p:nvSpPr>
        <p:spPr>
          <a:xfrm>
            <a:off x="1783080" y="3931920"/>
            <a:ext cx="4069080" cy="320040"/>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Road blockage</a:t>
            </a:r>
            <a:endParaRPr lang="en-US" sz="1800" dirty="0"/>
          </a:p>
        </p:txBody>
      </p:sp>
      <p:sp>
        <p:nvSpPr>
          <p:cNvPr id="16" name="Text 14"/>
          <p:cNvSpPr/>
          <p:nvPr/>
        </p:nvSpPr>
        <p:spPr>
          <a:xfrm>
            <a:off x="731520" y="4480560"/>
            <a:ext cx="5166360" cy="914400"/>
          </a:xfrm>
          <a:prstGeom prst="rect">
            <a:avLst/>
          </a:prstGeom>
          <a:noFill/>
          <a:ln/>
        </p:spPr>
        <p:txBody>
          <a:bodyPr wrap="square" lIns="0" tIns="0" rIns="0" bIns="0" rtlCol="0" anchor="ctr"/>
          <a:lstStyle/>
          <a:p>
            <a:pPr indent="0" marL="0">
              <a:buNone/>
            </a:pPr>
            <a:r>
              <a:rPr lang="en-US" sz="1500" dirty="0">
                <a:solidFill>
                  <a:srgbClr val="5F6368"/>
                </a:solidFill>
                <a:latin typeface="Arial" pitchFamily="34" charset="0"/>
                <a:ea typeface="Arial" pitchFamily="34" charset="-122"/>
                <a:cs typeface="Arial" pitchFamily="34" charset="-120"/>
              </a:rPr>
              <a:t>First corridor blocked, so ineligible. Keep an alternative.</a:t>
            </a:r>
            <a:endParaRPr lang="en-US" sz="1500" dirty="0"/>
          </a:p>
        </p:txBody>
      </p:sp>
      <p:sp>
        <p:nvSpPr>
          <p:cNvPr id="17" name="Shape 15"/>
          <p:cNvSpPr/>
          <p:nvPr/>
        </p:nvSpPr>
        <p:spPr>
          <a:xfrm>
            <a:off x="6309360" y="3657600"/>
            <a:ext cx="5623560" cy="2011680"/>
          </a:xfrm>
          <a:prstGeom prst="rect">
            <a:avLst/>
          </a:prstGeom>
          <a:solidFill>
            <a:srgbClr val="FFFFFF"/>
          </a:solidFill>
          <a:ln w="12700">
            <a:solidFill>
              <a:srgbClr val="DADCE0"/>
            </a:solidFill>
            <a:prstDash val="solid"/>
          </a:ln>
        </p:spPr>
      </p:sp>
      <p:sp>
        <p:nvSpPr>
          <p:cNvPr id="18" name="Text 16"/>
          <p:cNvSpPr/>
          <p:nvPr/>
        </p:nvSpPr>
        <p:spPr>
          <a:xfrm>
            <a:off x="6537960" y="3886200"/>
            <a:ext cx="1005840" cy="365760"/>
          </a:xfrm>
          <a:prstGeom prst="rect">
            <a:avLst/>
          </a:prstGeom>
          <a:noFill/>
          <a:ln/>
        </p:spPr>
        <p:txBody>
          <a:bodyPr wrap="square" lIns="0" tIns="0" rIns="0" bIns="0" rtlCol="0" anchor="ctr"/>
          <a:lstStyle/>
          <a:p>
            <a:pPr indent="0" marL="0">
              <a:buNone/>
            </a:pPr>
            <a:r>
              <a:rPr lang="en-US" sz="2000" b="1" dirty="0">
                <a:solidFill>
                  <a:srgbClr val="1A73E8"/>
                </a:solidFill>
                <a:latin typeface="Arial" pitchFamily="34" charset="0"/>
                <a:ea typeface="Arial" pitchFamily="34" charset="-122"/>
                <a:cs typeface="Arial" pitchFamily="34" charset="-120"/>
              </a:rPr>
              <a:t>04</a:t>
            </a:r>
            <a:endParaRPr lang="en-US" sz="2000" dirty="0"/>
          </a:p>
        </p:txBody>
      </p:sp>
      <p:sp>
        <p:nvSpPr>
          <p:cNvPr id="19" name="Text 17"/>
          <p:cNvSpPr/>
          <p:nvPr/>
        </p:nvSpPr>
        <p:spPr>
          <a:xfrm>
            <a:off x="7589520" y="3931920"/>
            <a:ext cx="4069080" cy="320040"/>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Unreachable</a:t>
            </a:r>
            <a:endParaRPr lang="en-US" sz="1800" dirty="0"/>
          </a:p>
        </p:txBody>
      </p:sp>
      <p:sp>
        <p:nvSpPr>
          <p:cNvPr id="20" name="Text 18"/>
          <p:cNvSpPr/>
          <p:nvPr/>
        </p:nvSpPr>
        <p:spPr>
          <a:xfrm>
            <a:off x="6537960" y="4480560"/>
            <a:ext cx="5166360" cy="914400"/>
          </a:xfrm>
          <a:prstGeom prst="rect">
            <a:avLst/>
          </a:prstGeom>
          <a:noFill/>
          <a:ln/>
        </p:spPr>
        <p:txBody>
          <a:bodyPr wrap="square" lIns="0" tIns="0" rIns="0" bIns="0" rtlCol="0" anchor="ctr"/>
          <a:lstStyle/>
          <a:p>
            <a:pPr indent="0" marL="0">
              <a:buNone/>
            </a:pPr>
            <a:r>
              <a:rPr lang="en-US" sz="1500" dirty="0">
                <a:solidFill>
                  <a:srgbClr val="5F6368"/>
                </a:solidFill>
                <a:latin typeface="Arial" pitchFamily="34" charset="0"/>
                <a:ea typeface="Arial" pitchFamily="34" charset="-122"/>
                <a:cs typeface="Arial" pitchFamily="34" charset="-120"/>
              </a:rPr>
              <a:t>Every corridor blocked. Report no suitable route, with the required message.</a:t>
            </a:r>
            <a:endParaRPr lang="en-US" sz="1500" dirty="0"/>
          </a:p>
        </p:txBody>
      </p:sp>
      <p:sp>
        <p:nvSpPr>
          <p:cNvPr id="21" name="Shape 19"/>
          <p:cNvSpPr/>
          <p:nvPr/>
        </p:nvSpPr>
        <p:spPr>
          <a:xfrm>
            <a:off x="0" y="6656832"/>
            <a:ext cx="12191695" cy="201168"/>
          </a:xfrm>
          <a:prstGeom prst="rect">
            <a:avLst/>
          </a:prstGeom>
          <a:solidFill>
            <a:srgbClr val="EEF1F4"/>
          </a:solidFill>
          <a:ln w="12700">
            <a:solidFill>
              <a:srgbClr val="EEF1F4"/>
            </a:solidFill>
            <a:prstDash val="solid"/>
          </a:ln>
        </p:spPr>
      </p:sp>
      <p:sp>
        <p:nvSpPr>
          <p:cNvPr id="22" name="Text 20"/>
          <p:cNvSpPr/>
          <p:nvPr/>
        </p:nvSpPr>
        <p:spPr>
          <a:xfrm>
            <a:off x="502920" y="6656832"/>
            <a:ext cx="5486400" cy="201168"/>
          </a:xfrm>
          <a:prstGeom prst="rect">
            <a:avLst/>
          </a:prstGeom>
          <a:noFill/>
          <a:ln/>
        </p:spPr>
        <p:txBody>
          <a:bodyPr wrap="square" lIns="0" tIns="0" rIns="0" bIns="0" rtlCol="0" anchor="ctr"/>
          <a:lstStyle/>
          <a:p>
            <a:pPr indent="0" marL="0">
              <a:buNone/>
            </a:pPr>
            <a:r>
              <a:rPr lang="en-US" sz="1000" dirty="0">
                <a:solidFill>
                  <a:srgbClr val="5F6368"/>
                </a:solidFill>
                <a:latin typeface="Arial" pitchFamily="34" charset="0"/>
                <a:ea typeface="Arial" pitchFamily="34" charset="-122"/>
                <a:cs typeface="Arial" pitchFamily="34" charset="-120"/>
              </a:rPr>
              <a:t>RapidRoute  ·  RIH-PS-011</a:t>
            </a:r>
            <a:endParaRPr lang="en-US" sz="1000" dirty="0"/>
          </a:p>
        </p:txBody>
      </p:sp>
      <p:sp>
        <p:nvSpPr>
          <p:cNvPr id="23" name="Text 21"/>
          <p:cNvSpPr/>
          <p:nvPr/>
        </p:nvSpPr>
        <p:spPr>
          <a:xfrm>
            <a:off x="11338560" y="6656832"/>
            <a:ext cx="457200" cy="201168"/>
          </a:xfrm>
          <a:prstGeom prst="rect">
            <a:avLst/>
          </a:prstGeom>
          <a:noFill/>
          <a:ln/>
        </p:spPr>
        <p:txBody>
          <a:bodyPr wrap="square" lIns="0" tIns="0" rIns="0" bIns="0" rtlCol="0" anchor="ctr"/>
          <a:lstStyle/>
          <a:p>
            <a:pPr algn="r" indent="0" marL="0">
              <a:buNone/>
            </a:pPr>
            <a:r>
              <a:rPr lang="en-US" sz="1000" dirty="0">
                <a:solidFill>
                  <a:srgbClr val="5F6368"/>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3025"/>
          </a:solidFill>
          <a:ln w="12700">
            <a:solidFill>
              <a:srgbClr val="D93025"/>
            </a:solidFill>
            <a:prstDash val="solid"/>
          </a:ln>
        </p:spPr>
      </p:sp>
      <p:sp>
        <p:nvSpPr>
          <p:cNvPr id="3" name="Text 1"/>
          <p:cNvSpPr/>
          <p:nvPr/>
        </p:nvSpPr>
        <p:spPr>
          <a:xfrm>
            <a:off x="640080" y="365760"/>
            <a:ext cx="10972800" cy="256032"/>
          </a:xfrm>
          <a:prstGeom prst="rect">
            <a:avLst/>
          </a:prstGeom>
          <a:noFill/>
          <a:ln/>
        </p:spPr>
        <p:txBody>
          <a:bodyPr wrap="square" lIns="0" tIns="0" rIns="0" bIns="0" rtlCol="0" anchor="ctr"/>
          <a:lstStyle/>
          <a:p>
            <a:pPr indent="0" marL="0">
              <a:buNone/>
            </a:pPr>
            <a:r>
              <a:rPr lang="en-US" sz="1200" b="1" spc="150" kern="0" dirty="0">
                <a:solidFill>
                  <a:srgbClr val="5F6368"/>
                </a:solidFill>
                <a:latin typeface="Arial" pitchFamily="34" charset="0"/>
                <a:ea typeface="Arial" pitchFamily="34" charset="-122"/>
                <a:cs typeface="Arial" pitchFamily="34" charset="-120"/>
              </a:rPr>
              <a:t>NOW  /  NEXT</a:t>
            </a:r>
            <a:endParaRPr lang="en-US" sz="1200" dirty="0"/>
          </a:p>
        </p:txBody>
      </p:sp>
      <p:sp>
        <p:nvSpPr>
          <p:cNvPr id="4" name="Text 2"/>
          <p:cNvSpPr/>
          <p:nvPr/>
        </p:nvSpPr>
        <p:spPr>
          <a:xfrm>
            <a:off x="640080" y="731520"/>
            <a:ext cx="5120640" cy="320040"/>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Prototype</a:t>
            </a:r>
            <a:endParaRPr lang="en-US" sz="1600" dirty="0"/>
          </a:p>
        </p:txBody>
      </p:sp>
      <p:sp>
        <p:nvSpPr>
          <p:cNvPr id="5" name="Text 3"/>
          <p:cNvSpPr/>
          <p:nvPr/>
        </p:nvSpPr>
        <p:spPr>
          <a:xfrm>
            <a:off x="640080" y="1143000"/>
            <a:ext cx="5120640" cy="32004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Emergency dispatch</a:t>
            </a:r>
            <a:endParaRPr lang="en-US" sz="1600" dirty="0"/>
          </a:p>
        </p:txBody>
      </p:sp>
      <p:sp>
        <p:nvSpPr>
          <p:cNvPr id="6" name="Text 4"/>
          <p:cNvSpPr/>
          <p:nvPr/>
        </p:nvSpPr>
        <p:spPr>
          <a:xfrm>
            <a:off x="640080" y="1490472"/>
            <a:ext cx="5120640" cy="32004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Unit assignment</a:t>
            </a:r>
            <a:endParaRPr lang="en-US" sz="1600" dirty="0"/>
          </a:p>
        </p:txBody>
      </p:sp>
      <p:sp>
        <p:nvSpPr>
          <p:cNvPr id="7" name="Text 5"/>
          <p:cNvSpPr/>
          <p:nvPr/>
        </p:nvSpPr>
        <p:spPr>
          <a:xfrm>
            <a:off x="640080" y="1837944"/>
            <a:ext cx="5120640" cy="32004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Route scoring</a:t>
            </a:r>
            <a:endParaRPr lang="en-US" sz="1600" dirty="0"/>
          </a:p>
        </p:txBody>
      </p:sp>
      <p:sp>
        <p:nvSpPr>
          <p:cNvPr id="8" name="Text 6"/>
          <p:cNvSpPr/>
          <p:nvPr/>
        </p:nvSpPr>
        <p:spPr>
          <a:xfrm>
            <a:off x="640080" y="2185416"/>
            <a:ext cx="5120640" cy="32004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Road-condition handling</a:t>
            </a:r>
            <a:endParaRPr lang="en-US" sz="1600" dirty="0"/>
          </a:p>
        </p:txBody>
      </p:sp>
      <p:sp>
        <p:nvSpPr>
          <p:cNvPr id="9" name="Text 7"/>
          <p:cNvSpPr/>
          <p:nvPr/>
        </p:nvSpPr>
        <p:spPr>
          <a:xfrm>
            <a:off x="640080" y="2532888"/>
            <a:ext cx="5120640" cy="32004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Explainable decisions</a:t>
            </a:r>
            <a:endParaRPr lang="en-US" sz="1600" dirty="0"/>
          </a:p>
        </p:txBody>
      </p:sp>
      <p:sp>
        <p:nvSpPr>
          <p:cNvPr id="10" name="Text 8"/>
          <p:cNvSpPr/>
          <p:nvPr/>
        </p:nvSpPr>
        <p:spPr>
          <a:xfrm>
            <a:off x="640080" y="2880360"/>
            <a:ext cx="5120640" cy="32004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Rerouting when it helps</a:t>
            </a:r>
            <a:endParaRPr lang="en-US" sz="1600" dirty="0"/>
          </a:p>
        </p:txBody>
      </p:sp>
      <p:sp>
        <p:nvSpPr>
          <p:cNvPr id="11" name="Text 9"/>
          <p:cNvSpPr/>
          <p:nvPr/>
        </p:nvSpPr>
        <p:spPr>
          <a:xfrm>
            <a:off x="6492240" y="731520"/>
            <a:ext cx="5120640" cy="320040"/>
          </a:xfrm>
          <a:prstGeom prst="rect">
            <a:avLst/>
          </a:prstGeom>
          <a:noFill/>
          <a:ln/>
        </p:spPr>
        <p:txBody>
          <a:bodyPr wrap="square" lIns="0" tIns="0" rIns="0" bIns="0" rtlCol="0" anchor="ctr"/>
          <a:lstStyle/>
          <a:p>
            <a:pPr indent="0" marL="0">
              <a:buNone/>
            </a:pPr>
            <a:r>
              <a:rPr lang="en-US" sz="1600" b="1" dirty="0">
                <a:solidFill>
                  <a:srgbClr val="202124"/>
                </a:solidFill>
                <a:latin typeface="Arial" pitchFamily="34" charset="0"/>
                <a:ea typeface="Arial" pitchFamily="34" charset="-122"/>
                <a:cs typeface="Arial" pitchFamily="34" charset="-120"/>
              </a:rPr>
              <a:t>If this were operations</a:t>
            </a:r>
            <a:endParaRPr lang="en-US" sz="1600" dirty="0"/>
          </a:p>
        </p:txBody>
      </p:sp>
      <p:sp>
        <p:nvSpPr>
          <p:cNvPr id="12" name="Text 10"/>
          <p:cNvSpPr/>
          <p:nvPr/>
        </p:nvSpPr>
        <p:spPr>
          <a:xfrm>
            <a:off x="6492240" y="1143000"/>
            <a:ext cx="5120640" cy="32004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Real vehicle GPS</a:t>
            </a:r>
            <a:endParaRPr lang="en-US" sz="1600" dirty="0"/>
          </a:p>
        </p:txBody>
      </p:sp>
      <p:sp>
        <p:nvSpPr>
          <p:cNvPr id="13" name="Text 11"/>
          <p:cNvSpPr/>
          <p:nvPr/>
        </p:nvSpPr>
        <p:spPr>
          <a:xfrm>
            <a:off x="6492240" y="1490472"/>
            <a:ext cx="5120640" cy="32004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Hospital bed availability</a:t>
            </a:r>
            <a:endParaRPr lang="en-US" sz="1600" dirty="0"/>
          </a:p>
        </p:txBody>
      </p:sp>
      <p:sp>
        <p:nvSpPr>
          <p:cNvPr id="14" name="Text 12"/>
          <p:cNvSpPr/>
          <p:nvPr/>
        </p:nvSpPr>
        <p:spPr>
          <a:xfrm>
            <a:off x="6492240" y="1837944"/>
            <a:ext cx="5120640" cy="32004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Municipal closure feeds</a:t>
            </a:r>
            <a:endParaRPr lang="en-US" sz="1600" dirty="0"/>
          </a:p>
        </p:txBody>
      </p:sp>
      <p:sp>
        <p:nvSpPr>
          <p:cNvPr id="15" name="Text 13"/>
          <p:cNvSpPr/>
          <p:nvPr/>
        </p:nvSpPr>
        <p:spPr>
          <a:xfrm>
            <a:off x="6492240" y="2185416"/>
            <a:ext cx="5120640" cy="32004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Larger city deployment</a:t>
            </a:r>
            <a:endParaRPr lang="en-US" sz="1600" dirty="0"/>
          </a:p>
        </p:txBody>
      </p:sp>
      <p:sp>
        <p:nvSpPr>
          <p:cNvPr id="16" name="Text 14"/>
          <p:cNvSpPr/>
          <p:nvPr/>
        </p:nvSpPr>
        <p:spPr>
          <a:xfrm>
            <a:off x="6492240" y="2532888"/>
            <a:ext cx="5120640" cy="32004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Live operational integrations</a:t>
            </a:r>
            <a:endParaRPr lang="en-US" sz="1600" dirty="0"/>
          </a:p>
        </p:txBody>
      </p:sp>
      <p:sp>
        <p:nvSpPr>
          <p:cNvPr id="17" name="Text 15"/>
          <p:cNvSpPr/>
          <p:nvPr/>
        </p:nvSpPr>
        <p:spPr>
          <a:xfrm>
            <a:off x="6492240" y="2880360"/>
            <a:ext cx="5120640" cy="320040"/>
          </a:xfrm>
          <a:prstGeom prst="rect">
            <a:avLst/>
          </a:prstGeom>
          <a:noFill/>
          <a:ln/>
        </p:spPr>
        <p:txBody>
          <a:bodyPr wrap="square" lIns="0" tIns="0" rIns="0" bIns="0" rtlCol="0" anchor="ctr"/>
          <a:lstStyle/>
          <a:p>
            <a:pPr indent="0" marL="0">
              <a:buNone/>
            </a:pPr>
            <a:r>
              <a:rPr lang="en-US" sz="1600" dirty="0">
                <a:solidFill>
                  <a:srgbClr val="5F6368"/>
                </a:solidFill>
                <a:latin typeface="Arial" pitchFamily="34" charset="0"/>
                <a:ea typeface="Arial" pitchFamily="34" charset="-122"/>
                <a:cs typeface="Arial" pitchFamily="34" charset="-120"/>
              </a:rPr>
              <a:t>Scoring stays the same</a:t>
            </a:r>
            <a:endParaRPr lang="en-US" sz="1600" dirty="0"/>
          </a:p>
        </p:txBody>
      </p:sp>
      <p:sp>
        <p:nvSpPr>
          <p:cNvPr id="18" name="Shape 16"/>
          <p:cNvSpPr/>
          <p:nvPr/>
        </p:nvSpPr>
        <p:spPr>
          <a:xfrm>
            <a:off x="502920" y="3383280"/>
            <a:ext cx="11201400" cy="2606040"/>
          </a:xfrm>
          <a:prstGeom prst="rect">
            <a:avLst/>
          </a:prstGeom>
          <a:solidFill>
            <a:srgbClr val="202124"/>
          </a:solidFill>
          <a:ln w="12700">
            <a:solidFill>
              <a:srgbClr val="202124"/>
            </a:solidFill>
            <a:prstDash val="solid"/>
          </a:ln>
        </p:spPr>
      </p:sp>
      <p:sp>
        <p:nvSpPr>
          <p:cNvPr id="19" name="Text 17"/>
          <p:cNvSpPr/>
          <p:nvPr/>
        </p:nvSpPr>
        <p:spPr>
          <a:xfrm>
            <a:off x="777240" y="3611880"/>
            <a:ext cx="10652760" cy="14173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Google finds the roads.</a:t>
            </a:r>
            <a:endParaRPr lang="en-US" sz="2800" dirty="0"/>
          </a:p>
          <a:p>
            <a:pPr indent="0" marL="0">
              <a:buNone/>
            </a:pPr>
            <a:r>
              <a:rPr lang="en-US" sz="2800" b="1" dirty="0">
                <a:solidFill>
                  <a:srgbClr val="FFFFFF"/>
                </a:solidFill>
                <a:latin typeface="Arial" pitchFamily="34" charset="0"/>
                <a:ea typeface="Arial" pitchFamily="34" charset="-122"/>
                <a:cs typeface="Arial" pitchFamily="34" charset="-120"/>
              </a:rPr>
              <a:t>RapidRoute decides how emergency vehicles use them.</a:t>
            </a:r>
            <a:endParaRPr lang="en-US" sz="2800" dirty="0"/>
          </a:p>
        </p:txBody>
      </p:sp>
      <p:sp>
        <p:nvSpPr>
          <p:cNvPr id="20" name="Text 18"/>
          <p:cNvSpPr/>
          <p:nvPr/>
        </p:nvSpPr>
        <p:spPr>
          <a:xfrm>
            <a:off x="777240" y="5212080"/>
            <a:ext cx="10652760" cy="411480"/>
          </a:xfrm>
          <a:prstGeom prst="rect">
            <a:avLst/>
          </a:prstGeom>
          <a:noFill/>
          <a:ln/>
        </p:spPr>
        <p:txBody>
          <a:bodyPr wrap="square" lIns="0" tIns="0" rIns="0" bIns="0" rtlCol="0" anchor="ctr"/>
          <a:lstStyle/>
          <a:p>
            <a:pPr indent="0" marL="0">
              <a:buNone/>
            </a:pPr>
            <a:r>
              <a:rPr lang="en-US" sz="1400" dirty="0">
                <a:solidFill>
                  <a:srgbClr val="DADCE0"/>
                </a:solidFill>
                <a:latin typeface="Arial" pitchFamily="34" charset="0"/>
                <a:ea typeface="Arial" pitchFamily="34" charset="-122"/>
                <a:cs typeface="Arial" pitchFamily="34" charset="-120"/>
              </a:rPr>
              <a:t>RapidRoute   ·   RIH-PS-011   ·   A dispatch decision layer, not a maps replacement.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RapidRoute | RIH-PS-011</dc:title>
  <dc:subject>Intelligent Emergency Vehicle Route Management</dc:subject>
  <dc:creator>RapidRoute</dc:creator>
  <cp:lastModifiedBy>RapidRoute</cp:lastModifiedBy>
  <cp:revision>1</cp:revision>
  <dcterms:created xsi:type="dcterms:W3CDTF">2026-08-25T03:54:13Z</dcterms:created>
  <dcterms:modified xsi:type="dcterms:W3CDTF">2026-08-25T03:54:13Z</dcterms:modified>
</cp:coreProperties>
</file>